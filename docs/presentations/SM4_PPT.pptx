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38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42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273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025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32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638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53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03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29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31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8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86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385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7292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183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584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13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57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2599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11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5544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0956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398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595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738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896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842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115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4D00E82-31C5-4F30-BAB3-5EF810EF657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E6C136E-7E0E-482D-96EE-B09D5D49AD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66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D42F9E-45FE-E8FD-F3C3-31CEF274C6F2}"/>
              </a:ext>
            </a:extLst>
          </p:cNvPr>
          <p:cNvSpPr txBox="1"/>
          <p:nvPr/>
        </p:nvSpPr>
        <p:spPr>
          <a:xfrm>
            <a:off x="772160" y="566220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Aptos" panose="020B0004020202020204" pitchFamily="34" charset="0"/>
                <a:cs typeface="Cascadia Code" panose="020B0609020000020004" pitchFamily="49" charset="0"/>
              </a:rPr>
              <a:t>SM4 Block </a:t>
            </a:r>
            <a:r>
              <a:rPr lang="pt-BR" sz="4400" dirty="0" err="1">
                <a:latin typeface="Aptos" panose="020B0004020202020204" pitchFamily="34" charset="0"/>
                <a:cs typeface="Cascadia Code" panose="020B0609020000020004" pitchFamily="49" charset="0"/>
              </a:rPr>
              <a:t>Cipher</a:t>
            </a:r>
            <a:endParaRPr lang="pt-BR" sz="4400" dirty="0">
              <a:latin typeface="Aptos" panose="020B0004020202020204" pitchFamily="34" charset="0"/>
              <a:cs typeface="Cascadia Code" panose="020B0609020000020004" pitchFamily="49" charset="0"/>
            </a:endParaRPr>
          </a:p>
          <a:p>
            <a:r>
              <a:rPr lang="pt-BR" sz="4400" dirty="0" err="1">
                <a:latin typeface="Aptos" panose="020B0004020202020204" pitchFamily="34" charset="0"/>
                <a:cs typeface="Cascadia Code" panose="020B0609020000020004" pitchFamily="49" charset="0"/>
              </a:rPr>
              <a:t>ShangMi</a:t>
            </a:r>
            <a:r>
              <a:rPr lang="pt-BR" sz="4400" dirty="0">
                <a:latin typeface="Aptos" panose="020B0004020202020204" pitchFamily="34" charset="0"/>
                <a:cs typeface="Cascadia Code" panose="020B0609020000020004" pitchFamily="49" charset="0"/>
              </a:rPr>
              <a:t> 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826226-6EB7-C3DC-1C90-73D265A4A3D6}"/>
              </a:ext>
            </a:extLst>
          </p:cNvPr>
          <p:cNvSpPr txBox="1"/>
          <p:nvPr/>
        </p:nvSpPr>
        <p:spPr>
          <a:xfrm>
            <a:off x="772160" y="4632960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Guilherme </a:t>
            </a:r>
            <a:r>
              <a:rPr lang="pt-BR"/>
              <a:t>Martins Specht</a:t>
            </a:r>
            <a:br>
              <a:rPr lang="pt-BR"/>
            </a:br>
            <a:r>
              <a:rPr lang="pt-BR"/>
              <a:t>Lucas Dutra Luza</a:t>
            </a:r>
            <a:endParaRPr lang="pt-BR" dirty="0"/>
          </a:p>
          <a:p>
            <a:r>
              <a:rPr lang="pt-BR" dirty="0"/>
              <a:t>PFE – MEA5</a:t>
            </a:r>
          </a:p>
          <a:p>
            <a:r>
              <a:rPr lang="pt-BR" dirty="0" err="1"/>
              <a:t>Polytech</a:t>
            </a:r>
            <a:r>
              <a:rPr lang="pt-BR" dirty="0"/>
              <a:t> Montpellier</a:t>
            </a:r>
            <a:br>
              <a:rPr lang="pt-BR" dirty="0"/>
            </a:br>
            <a:r>
              <a:rPr lang="pt-BR" dirty="0" err="1"/>
              <a:t>STMicroelectronics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52C4C6-3077-3A22-7DE4-2C49A4D4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537" y="0"/>
            <a:ext cx="3810000" cy="1905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BAC71C4-28BD-429F-415E-BD962EC65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63" y="2012770"/>
            <a:ext cx="1913391" cy="10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4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1541-CEF1-478A-AC04-D85BFB8A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C54F42-DEDF-E1C7-A8AF-9D81C01E273A}"/>
              </a:ext>
            </a:extLst>
          </p:cNvPr>
          <p:cNvSpPr txBox="1"/>
          <p:nvPr/>
        </p:nvSpPr>
        <p:spPr>
          <a:xfrm>
            <a:off x="0" y="1769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SM4 </a:t>
            </a:r>
            <a:r>
              <a:rPr lang="pt-BR" sz="4000" dirty="0" err="1">
                <a:latin typeface="Aptos" panose="020B0004020202020204" pitchFamily="34" charset="0"/>
              </a:rPr>
              <a:t>at</a:t>
            </a:r>
            <a:r>
              <a:rPr lang="pt-BR" sz="4000" dirty="0">
                <a:latin typeface="Aptos" panose="020B0004020202020204" pitchFamily="34" charset="0"/>
              </a:rPr>
              <a:t> a </a:t>
            </a:r>
            <a:r>
              <a:rPr lang="pt-BR" sz="4000" dirty="0" err="1">
                <a:latin typeface="Aptos" panose="020B0004020202020204" pitchFamily="34" charset="0"/>
              </a:rPr>
              <a:t>Glance</a:t>
            </a:r>
            <a:endParaRPr lang="pt-BR" sz="4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202E48-4164-97D8-489C-9B8D7DA63D52}"/>
              </a:ext>
            </a:extLst>
          </p:cNvPr>
          <p:cNvSpPr txBox="1"/>
          <p:nvPr/>
        </p:nvSpPr>
        <p:spPr>
          <a:xfrm>
            <a:off x="747252" y="1123831"/>
            <a:ext cx="110612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Block </a:t>
            </a:r>
            <a:r>
              <a:rPr lang="pt-BR" dirty="0" err="1"/>
              <a:t>length</a:t>
            </a:r>
            <a:r>
              <a:rPr lang="pt-BR" dirty="0"/>
              <a:t>: 128 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4 words </a:t>
            </a:r>
            <a:r>
              <a:rPr lang="pt-BR" dirty="0" err="1"/>
              <a:t>with</a:t>
            </a:r>
            <a:r>
              <a:rPr lang="pt-BR" dirty="0"/>
              <a:t> 32 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Key </a:t>
            </a:r>
            <a:r>
              <a:rPr lang="pt-BR" dirty="0" err="1"/>
              <a:t>length</a:t>
            </a:r>
            <a:r>
              <a:rPr lang="pt-BR" dirty="0"/>
              <a:t>: 128 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Rounds: 32 rounds.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Symmetrical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expansion algorithm an algorithm that transforms the cipher key into round keys.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S-Box: a permutation with 8-bit input and 8-bit output, represented as 𝑆𝑏𝑜𝑥(·).</a:t>
            </a:r>
            <a:endParaRPr lang="pt-BR" dirty="0"/>
          </a:p>
        </p:txBody>
      </p:sp>
      <p:sp>
        <p:nvSpPr>
          <p:cNvPr id="6" name="Fluxograma: Processo 5">
            <a:extLst>
              <a:ext uri="{FF2B5EF4-FFF2-40B4-BE49-F238E27FC236}">
                <a16:creationId xmlns:a16="http://schemas.microsoft.com/office/drawing/2014/main" id="{DF341A89-195F-13DA-5A92-CD57908D5C23}"/>
              </a:ext>
            </a:extLst>
          </p:cNvPr>
          <p:cNvSpPr/>
          <p:nvPr/>
        </p:nvSpPr>
        <p:spPr>
          <a:xfrm>
            <a:off x="5604387" y="4463845"/>
            <a:ext cx="983225" cy="796413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SM4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8190B8-5EB5-1557-9C0D-A87EBE233EAA}"/>
              </a:ext>
            </a:extLst>
          </p:cNvPr>
          <p:cNvSpPr txBox="1"/>
          <p:nvPr/>
        </p:nvSpPr>
        <p:spPr>
          <a:xfrm>
            <a:off x="5267630" y="3702845"/>
            <a:ext cx="1656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Consolas" panose="020B0609020204030204" pitchFamily="49" charset="0"/>
              </a:rPr>
              <a:t>Secret</a:t>
            </a:r>
            <a:r>
              <a:rPr lang="pt-BR" sz="1400" dirty="0">
                <a:latin typeface="Consolas" panose="020B0609020204030204" pitchFamily="49" charset="0"/>
              </a:rPr>
              <a:t> Key (128 bits)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AD8408-FC09-0834-AC4B-24261C961A94}"/>
              </a:ext>
            </a:extLst>
          </p:cNvPr>
          <p:cNvSpPr txBox="1"/>
          <p:nvPr/>
        </p:nvSpPr>
        <p:spPr>
          <a:xfrm>
            <a:off x="2694039" y="4708161"/>
            <a:ext cx="2163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Consolas" panose="020B0609020204030204" pitchFamily="49" charset="0"/>
              </a:rPr>
              <a:t>PlainText</a:t>
            </a:r>
            <a:r>
              <a:rPr lang="pt-BR" sz="1400" dirty="0">
                <a:latin typeface="Consolas" panose="020B0609020204030204" pitchFamily="49" charset="0"/>
              </a:rPr>
              <a:t> (128 bits)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02830B-3676-AC39-F60C-AD11C2EDA56A}"/>
              </a:ext>
            </a:extLst>
          </p:cNvPr>
          <p:cNvSpPr txBox="1"/>
          <p:nvPr/>
        </p:nvSpPr>
        <p:spPr>
          <a:xfrm>
            <a:off x="7334863" y="4701301"/>
            <a:ext cx="2300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latin typeface="Consolas" panose="020B0609020204030204" pitchFamily="49" charset="0"/>
              </a:rPr>
              <a:t>CipherText</a:t>
            </a:r>
            <a:r>
              <a:rPr lang="pt-BR" sz="1400" dirty="0">
                <a:latin typeface="Consolas" panose="020B0609020204030204" pitchFamily="49" charset="0"/>
              </a:rPr>
              <a:t> (128 bits)</a:t>
            </a:r>
            <a:endParaRPr lang="pt-BR" dirty="0">
              <a:latin typeface="Consolas" panose="020B0609020204030204" pitchFamily="49" charset="0"/>
            </a:endParaRP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B1A01B6-4610-C53A-7915-5FB141CCAF2A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6095999" y="4226065"/>
            <a:ext cx="1" cy="2377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0B38FB8-50C0-28F3-D811-0302F4FAA7FB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4857136" y="4862050"/>
            <a:ext cx="747251" cy="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A1D19E6-5C9B-896D-3C95-2F60B0B10957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6587612" y="4855190"/>
            <a:ext cx="747251" cy="686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76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C5FDCE9-FA2F-8FE7-A1F4-96B701CA7333}"/>
              </a:ext>
            </a:extLst>
          </p:cNvPr>
          <p:cNvSpPr txBox="1"/>
          <p:nvPr/>
        </p:nvSpPr>
        <p:spPr>
          <a:xfrm>
            <a:off x="0" y="147484"/>
            <a:ext cx="1219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err="1">
                <a:latin typeface="Aptos" panose="020B0004020202020204" pitchFamily="34" charset="0"/>
              </a:rPr>
              <a:t>Encryption</a:t>
            </a:r>
            <a:r>
              <a:rPr lang="pt-BR" sz="4000" dirty="0">
                <a:latin typeface="Aptos" panose="020B0004020202020204" pitchFamily="34" charset="0"/>
              </a:rPr>
              <a:t> </a:t>
            </a:r>
            <a:r>
              <a:rPr lang="pt-BR" sz="4000" dirty="0" err="1">
                <a:latin typeface="Aptos" panose="020B0004020202020204" pitchFamily="34" charset="0"/>
              </a:rPr>
              <a:t>Structure</a:t>
            </a:r>
            <a:endParaRPr lang="pt-BR" sz="4000" dirty="0">
              <a:latin typeface="Aptos" panose="020B0004020202020204" pitchFamily="34" charset="0"/>
            </a:endParaRP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D74B44-6018-83FE-A074-832200D4C060}"/>
              </a:ext>
            </a:extLst>
          </p:cNvPr>
          <p:cNvSpPr txBox="1"/>
          <p:nvPr/>
        </p:nvSpPr>
        <p:spPr>
          <a:xfrm>
            <a:off x="570270" y="1132369"/>
            <a:ext cx="108744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Xi+4 = Xi XOR T(Xi+1 XOR Xi+2 XOR Xi+3 XOR </a:t>
            </a:r>
            <a:r>
              <a:rPr lang="pt-BR" dirty="0" err="1"/>
              <a:t>rki</a:t>
            </a:r>
            <a:r>
              <a:rPr lang="pt-BR" dirty="0"/>
              <a:t>)</a:t>
            </a:r>
          </a:p>
          <a:p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Xi </a:t>
            </a:r>
            <a:r>
              <a:rPr lang="pt-BR" dirty="0" err="1"/>
              <a:t>represents</a:t>
            </a:r>
            <a:r>
              <a:rPr lang="pt-BR" dirty="0"/>
              <a:t> a 32-bit </a:t>
            </a:r>
            <a:r>
              <a:rPr lang="pt-BR" dirty="0" err="1"/>
              <a:t>state</a:t>
            </a:r>
            <a:r>
              <a:rPr lang="pt-BR" dirty="0"/>
              <a:t> word.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 err="1"/>
              <a:t>rki</a:t>
            </a:r>
            <a:r>
              <a:rPr lang="pt-BR" dirty="0"/>
              <a:t> 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32-bit round </a:t>
            </a:r>
            <a:r>
              <a:rPr lang="pt-BR" dirty="0" err="1"/>
              <a:t>key</a:t>
            </a:r>
            <a:r>
              <a:rPr lang="pt-BR" dirty="0"/>
              <a:t> for round 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XOR 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bitwise</a:t>
            </a:r>
            <a:r>
              <a:rPr lang="pt-BR" dirty="0"/>
              <a:t> exclusive-OR </a:t>
            </a:r>
            <a:r>
              <a:rPr lang="pt-BR" dirty="0" err="1"/>
              <a:t>operation</a:t>
            </a:r>
            <a:r>
              <a:rPr lang="pt-BR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T() 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SM4 </a:t>
            </a:r>
            <a:r>
              <a:rPr lang="pt-BR" dirty="0" err="1"/>
              <a:t>nonlinear</a:t>
            </a:r>
            <a:r>
              <a:rPr lang="pt-BR" dirty="0"/>
              <a:t> </a:t>
            </a:r>
            <a:r>
              <a:rPr lang="pt-BR" dirty="0" err="1"/>
              <a:t>transformation</a:t>
            </a:r>
            <a:r>
              <a:rPr lang="pt-BR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lvl="0"/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020007-1FDA-4CB1-56ED-3E4AF5A6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898" y="1132369"/>
            <a:ext cx="3095451" cy="512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5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C48529-6B29-B23C-FD00-21E8AEC6AFD0}"/>
              </a:ext>
            </a:extLst>
          </p:cNvPr>
          <p:cNvSpPr txBox="1"/>
          <p:nvPr/>
        </p:nvSpPr>
        <p:spPr>
          <a:xfrm>
            <a:off x="0" y="9832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The T </a:t>
            </a:r>
            <a:r>
              <a:rPr lang="pt-BR" sz="4000" dirty="0" err="1">
                <a:latin typeface="Aptos" panose="020B0004020202020204" pitchFamily="34" charset="0"/>
              </a:rPr>
              <a:t>Transformation</a:t>
            </a:r>
            <a:endParaRPr lang="pt-BR" sz="4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4A45A6-347A-F901-DBEC-1BFCB05121B6}"/>
              </a:ext>
            </a:extLst>
          </p:cNvPr>
          <p:cNvSpPr txBox="1"/>
          <p:nvPr/>
        </p:nvSpPr>
        <p:spPr>
          <a:xfrm>
            <a:off x="737419" y="1061883"/>
            <a:ext cx="11031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T(B) = L(tau(B))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tau() 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nonlinear</a:t>
            </a:r>
            <a:r>
              <a:rPr lang="pt-BR" dirty="0"/>
              <a:t> </a:t>
            </a:r>
            <a:r>
              <a:rPr lang="pt-BR" dirty="0" err="1"/>
              <a:t>S-box</a:t>
            </a:r>
            <a:r>
              <a:rPr lang="pt-BR" dirty="0"/>
              <a:t> </a:t>
            </a:r>
            <a:r>
              <a:rPr lang="pt-BR" dirty="0" err="1"/>
              <a:t>transformation</a:t>
            </a:r>
            <a:r>
              <a:rPr lang="pt-BR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L() 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linear </a:t>
            </a:r>
            <a:r>
              <a:rPr lang="pt-BR" dirty="0" err="1"/>
              <a:t>transformation</a:t>
            </a:r>
            <a:r>
              <a:rPr lang="pt-BR" dirty="0"/>
              <a:t>.</a:t>
            </a:r>
            <a:endParaRPr lang="fr-FR" dirty="0"/>
          </a:p>
        </p:txBody>
      </p:sp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D63CF109-858E-B1A7-AD87-8C33AF2F3D38}"/>
              </a:ext>
            </a:extLst>
          </p:cNvPr>
          <p:cNvSpPr/>
          <p:nvPr/>
        </p:nvSpPr>
        <p:spPr>
          <a:xfrm>
            <a:off x="4650658" y="2870120"/>
            <a:ext cx="2890684" cy="85540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Nonlinear</a:t>
            </a:r>
            <a:r>
              <a:rPr lang="pt-BR" dirty="0"/>
              <a:t> </a:t>
            </a:r>
            <a:r>
              <a:rPr lang="pt-BR" dirty="0" err="1"/>
              <a:t>transformation</a:t>
            </a:r>
            <a:endParaRPr lang="pt-BR" dirty="0"/>
          </a:p>
          <a:p>
            <a:pPr algn="ctr"/>
            <a:r>
              <a:rPr lang="pt-BR" dirty="0" err="1"/>
              <a:t>S-box</a:t>
            </a:r>
            <a:r>
              <a:rPr lang="pt-BR" dirty="0"/>
              <a:t>  </a:t>
            </a:r>
          </a:p>
        </p:txBody>
      </p:sp>
      <p:sp>
        <p:nvSpPr>
          <p:cNvPr id="5" name="Fluxograma: Processo 4">
            <a:extLst>
              <a:ext uri="{FF2B5EF4-FFF2-40B4-BE49-F238E27FC236}">
                <a16:creationId xmlns:a16="http://schemas.microsoft.com/office/drawing/2014/main" id="{8FEF86F3-F804-E60A-76C4-29597E0EB160}"/>
              </a:ext>
            </a:extLst>
          </p:cNvPr>
          <p:cNvSpPr/>
          <p:nvPr/>
        </p:nvSpPr>
        <p:spPr>
          <a:xfrm>
            <a:off x="4650658" y="4010664"/>
            <a:ext cx="2890684" cy="717755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Linear </a:t>
            </a:r>
            <a:r>
              <a:rPr lang="pt-BR" dirty="0" err="1"/>
              <a:t>transformation</a:t>
            </a:r>
            <a:r>
              <a:rPr lang="pt-BR" dirty="0"/>
              <a:t> 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7FAB13-2867-CDBB-6416-75ABA16A150F}"/>
              </a:ext>
            </a:extLst>
          </p:cNvPr>
          <p:cNvSpPr txBox="1"/>
          <p:nvPr/>
        </p:nvSpPr>
        <p:spPr>
          <a:xfrm>
            <a:off x="4650658" y="2101074"/>
            <a:ext cx="2890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Input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C58EB5-9667-279B-D5A6-8A1DA8C0D404}"/>
              </a:ext>
            </a:extLst>
          </p:cNvPr>
          <p:cNvSpPr txBox="1"/>
          <p:nvPr/>
        </p:nvSpPr>
        <p:spPr>
          <a:xfrm>
            <a:off x="4650658" y="5083277"/>
            <a:ext cx="2890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Output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9770271D-575C-B07D-4AAB-E9F08AB1F523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6096000" y="2439628"/>
            <a:ext cx="0" cy="4304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DFBCE38A-5A3A-67A9-FFA7-B600AD91611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6000" y="3725526"/>
            <a:ext cx="0" cy="2851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45ED909-0075-7EA7-EFDB-FC525AE2F921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6096000" y="4728419"/>
            <a:ext cx="0" cy="35485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72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618A64-D30D-52CC-9300-6FC3CB48AF72}"/>
              </a:ext>
            </a:extLst>
          </p:cNvPr>
          <p:cNvSpPr txBox="1"/>
          <p:nvPr/>
        </p:nvSpPr>
        <p:spPr>
          <a:xfrm>
            <a:off x="0" y="1671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err="1">
                <a:latin typeface="Aptos" panose="020B0004020202020204" pitchFamily="34" charset="0"/>
              </a:rPr>
              <a:t>Nonlinear</a:t>
            </a:r>
            <a:r>
              <a:rPr lang="pt-BR" sz="4000" dirty="0">
                <a:latin typeface="Aptos" panose="020B0004020202020204" pitchFamily="34" charset="0"/>
              </a:rPr>
              <a:t> </a:t>
            </a:r>
            <a:r>
              <a:rPr lang="pt-BR" sz="4000" dirty="0" err="1">
                <a:latin typeface="Aptos" panose="020B0004020202020204" pitchFamily="34" charset="0"/>
              </a:rPr>
              <a:t>Transformation</a:t>
            </a:r>
            <a:r>
              <a:rPr lang="pt-BR" sz="4000" dirty="0">
                <a:latin typeface="Aptos" panose="020B0004020202020204" pitchFamily="34" charset="0"/>
              </a:rPr>
              <a:t>: </a:t>
            </a:r>
            <a:r>
              <a:rPr lang="pt-BR" sz="4000" dirty="0" err="1">
                <a:latin typeface="Aptos" panose="020B0004020202020204" pitchFamily="34" charset="0"/>
              </a:rPr>
              <a:t>S-box</a:t>
            </a:r>
            <a:endParaRPr lang="pt-BR" sz="4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5AB768-4A18-6964-3D37-AB0264D4C8C8}"/>
              </a:ext>
            </a:extLst>
          </p:cNvPr>
          <p:cNvSpPr txBox="1"/>
          <p:nvPr/>
        </p:nvSpPr>
        <p:spPr>
          <a:xfrm>
            <a:off x="668594" y="1140542"/>
            <a:ext cx="53094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The input </a:t>
            </a:r>
            <a:r>
              <a:rPr lang="pt-BR" dirty="0" err="1"/>
              <a:t>to</a:t>
            </a:r>
            <a:r>
              <a:rPr lang="pt-BR" dirty="0"/>
              <a:t> T() </a:t>
            </a:r>
            <a:r>
              <a:rPr lang="pt-BR" dirty="0" err="1"/>
              <a:t>is</a:t>
            </a:r>
            <a:r>
              <a:rPr lang="pt-BR" dirty="0"/>
              <a:t> a 32-bit word.</a:t>
            </a:r>
          </a:p>
          <a:p>
            <a:endParaRPr lang="pt-BR" dirty="0"/>
          </a:p>
          <a:p>
            <a:r>
              <a:rPr lang="pt-BR" dirty="0"/>
              <a:t>It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divided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four bytes:</a:t>
            </a:r>
          </a:p>
          <a:p>
            <a:r>
              <a:rPr lang="pt-BR" dirty="0"/>
              <a:t>B = (b0, b1, b2, b3)</a:t>
            </a:r>
          </a:p>
          <a:p>
            <a:endParaRPr lang="pt-BR" dirty="0"/>
          </a:p>
          <a:p>
            <a:r>
              <a:rPr lang="pt-BR" dirty="0" err="1"/>
              <a:t>Each</a:t>
            </a:r>
            <a:r>
              <a:rPr lang="pt-BR" dirty="0"/>
              <a:t> byte passes </a:t>
            </a:r>
            <a:r>
              <a:rPr lang="pt-BR" dirty="0" err="1"/>
              <a:t>independently</a:t>
            </a:r>
            <a:r>
              <a:rPr lang="pt-BR" dirty="0"/>
              <a:t> </a:t>
            </a:r>
            <a:r>
              <a:rPr lang="pt-BR" dirty="0" err="1"/>
              <a:t>through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SM4 </a:t>
            </a:r>
            <a:r>
              <a:rPr lang="pt-BR" dirty="0" err="1"/>
              <a:t>S-box</a:t>
            </a:r>
            <a:r>
              <a:rPr lang="pt-BR" dirty="0"/>
              <a:t>:</a:t>
            </a:r>
          </a:p>
          <a:p>
            <a:r>
              <a:rPr lang="pt-BR" dirty="0"/>
              <a:t>b0 ---&gt; </a:t>
            </a:r>
            <a:r>
              <a:rPr lang="pt-BR" dirty="0" err="1"/>
              <a:t>S-box</a:t>
            </a:r>
            <a:r>
              <a:rPr lang="pt-BR" dirty="0"/>
              <a:t> ---&gt; S(b0)</a:t>
            </a:r>
          </a:p>
          <a:p>
            <a:r>
              <a:rPr lang="pt-BR" dirty="0"/>
              <a:t>b1 ---&gt; </a:t>
            </a:r>
            <a:r>
              <a:rPr lang="pt-BR" dirty="0" err="1"/>
              <a:t>S-box</a:t>
            </a:r>
            <a:r>
              <a:rPr lang="pt-BR" dirty="0"/>
              <a:t> ---&gt; S(b1)</a:t>
            </a:r>
          </a:p>
          <a:p>
            <a:r>
              <a:rPr lang="pt-BR" dirty="0"/>
              <a:t>b2 ---&gt; </a:t>
            </a:r>
            <a:r>
              <a:rPr lang="pt-BR" dirty="0" err="1"/>
              <a:t>S-box</a:t>
            </a:r>
            <a:r>
              <a:rPr lang="pt-BR" dirty="0"/>
              <a:t> ---&gt; S(b2)</a:t>
            </a:r>
          </a:p>
          <a:p>
            <a:r>
              <a:rPr lang="pt-BR" dirty="0"/>
              <a:t>b3 ---&gt; </a:t>
            </a:r>
            <a:r>
              <a:rPr lang="pt-BR" dirty="0" err="1"/>
              <a:t>S-box</a:t>
            </a:r>
            <a:r>
              <a:rPr lang="pt-BR" dirty="0"/>
              <a:t> ---&gt; S(b3)</a:t>
            </a:r>
          </a:p>
          <a:p>
            <a:endParaRPr lang="pt-BR" dirty="0"/>
          </a:p>
          <a:p>
            <a:r>
              <a:rPr lang="pt-BR" dirty="0"/>
              <a:t>The </a:t>
            </a:r>
            <a:r>
              <a:rPr lang="pt-BR" dirty="0" err="1"/>
              <a:t>results</a:t>
            </a:r>
            <a:r>
              <a:rPr lang="pt-BR" dirty="0"/>
              <a:t> are </a:t>
            </a:r>
            <a:r>
              <a:rPr lang="pt-BR" dirty="0" err="1"/>
              <a:t>combined</a:t>
            </a:r>
            <a:r>
              <a:rPr lang="pt-BR" dirty="0"/>
              <a:t> </a:t>
            </a:r>
            <a:r>
              <a:rPr lang="pt-BR" dirty="0" err="1"/>
              <a:t>again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a 32-bit word.</a:t>
            </a:r>
          </a:p>
          <a:p>
            <a:endParaRPr lang="pt-BR" dirty="0"/>
          </a:p>
          <a:p>
            <a:r>
              <a:rPr lang="pt-BR" dirty="0"/>
              <a:t>The </a:t>
            </a:r>
            <a:r>
              <a:rPr lang="pt-BR" dirty="0" err="1"/>
              <a:t>S-box</a:t>
            </a:r>
            <a:r>
              <a:rPr lang="pt-BR" dirty="0"/>
              <a:t> </a:t>
            </a:r>
            <a:r>
              <a:rPr lang="pt-BR" dirty="0" err="1"/>
              <a:t>introduces</a:t>
            </a:r>
            <a:r>
              <a:rPr lang="pt-BR" dirty="0"/>
              <a:t> </a:t>
            </a:r>
            <a:r>
              <a:rPr lang="pt-BR" b="1" dirty="0" err="1"/>
              <a:t>nonlinearity</a:t>
            </a:r>
            <a:r>
              <a:rPr lang="pt-BR" dirty="0"/>
              <a:t> 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cipher</a:t>
            </a:r>
            <a:r>
              <a:rPr lang="pt-BR" dirty="0"/>
              <a:t>, </a:t>
            </a:r>
            <a:r>
              <a:rPr lang="pt-BR" dirty="0" err="1"/>
              <a:t>which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essential</a:t>
            </a:r>
            <a:r>
              <a:rPr lang="pt-BR" dirty="0"/>
              <a:t> </a:t>
            </a:r>
            <a:r>
              <a:rPr lang="pt-BR" dirty="0" err="1"/>
              <a:t>property</a:t>
            </a:r>
            <a:r>
              <a:rPr lang="pt-BR" dirty="0"/>
              <a:t> for </a:t>
            </a:r>
            <a:r>
              <a:rPr lang="pt-BR" dirty="0" err="1"/>
              <a:t>cryptographic</a:t>
            </a:r>
            <a:r>
              <a:rPr lang="pt-BR" dirty="0"/>
              <a:t> </a:t>
            </a:r>
            <a:r>
              <a:rPr lang="pt-BR" dirty="0" err="1"/>
              <a:t>security</a:t>
            </a:r>
            <a:r>
              <a:rPr lang="pt-BR" dirty="0"/>
              <a:t>.</a:t>
            </a:r>
          </a:p>
        </p:txBody>
      </p:sp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AD8579F8-D67A-D5EA-640B-A7C000D9E348}"/>
              </a:ext>
            </a:extLst>
          </p:cNvPr>
          <p:cNvSpPr/>
          <p:nvPr/>
        </p:nvSpPr>
        <p:spPr>
          <a:xfrm>
            <a:off x="7443018" y="2222090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b0</a:t>
            </a:r>
          </a:p>
        </p:txBody>
      </p:sp>
      <p:sp>
        <p:nvSpPr>
          <p:cNvPr id="6" name="Fluxograma: Processo 5">
            <a:extLst>
              <a:ext uri="{FF2B5EF4-FFF2-40B4-BE49-F238E27FC236}">
                <a16:creationId xmlns:a16="http://schemas.microsoft.com/office/drawing/2014/main" id="{2869A358-78BD-202B-7243-4D4B1EC063E8}"/>
              </a:ext>
            </a:extLst>
          </p:cNvPr>
          <p:cNvSpPr/>
          <p:nvPr/>
        </p:nvSpPr>
        <p:spPr>
          <a:xfrm>
            <a:off x="8323005" y="2222090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b1</a:t>
            </a:r>
          </a:p>
        </p:txBody>
      </p:sp>
      <p:sp>
        <p:nvSpPr>
          <p:cNvPr id="8" name="Fluxograma: Processo 7">
            <a:extLst>
              <a:ext uri="{FF2B5EF4-FFF2-40B4-BE49-F238E27FC236}">
                <a16:creationId xmlns:a16="http://schemas.microsoft.com/office/drawing/2014/main" id="{6BD9171C-62DC-0D7A-50C3-68A5ADC8D2CA}"/>
              </a:ext>
            </a:extLst>
          </p:cNvPr>
          <p:cNvSpPr/>
          <p:nvPr/>
        </p:nvSpPr>
        <p:spPr>
          <a:xfrm>
            <a:off x="9202992" y="2222090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b2</a:t>
            </a: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8BAF1886-D905-48B6-3D79-E2B9DA178307}"/>
              </a:ext>
            </a:extLst>
          </p:cNvPr>
          <p:cNvSpPr/>
          <p:nvPr/>
        </p:nvSpPr>
        <p:spPr>
          <a:xfrm>
            <a:off x="10082979" y="2222090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18E8A51-8869-AFA1-3051-50CD44CD262A}"/>
              </a:ext>
            </a:extLst>
          </p:cNvPr>
          <p:cNvSpPr txBox="1"/>
          <p:nvPr/>
        </p:nvSpPr>
        <p:spPr>
          <a:xfrm>
            <a:off x="7443018" y="1379285"/>
            <a:ext cx="3406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" panose="020B0004020202020204" pitchFamily="34" charset="0"/>
              </a:rPr>
              <a:t>32 bits input</a:t>
            </a:r>
          </a:p>
        </p:txBody>
      </p:sp>
      <p:sp>
        <p:nvSpPr>
          <p:cNvPr id="13" name="Fluxograma: Processo 12">
            <a:extLst>
              <a:ext uri="{FF2B5EF4-FFF2-40B4-BE49-F238E27FC236}">
                <a16:creationId xmlns:a16="http://schemas.microsoft.com/office/drawing/2014/main" id="{AA02C5E4-1B56-DE33-6E78-F89A405376E2}"/>
              </a:ext>
            </a:extLst>
          </p:cNvPr>
          <p:cNvSpPr/>
          <p:nvPr/>
        </p:nvSpPr>
        <p:spPr>
          <a:xfrm>
            <a:off x="7443017" y="3220139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S()</a:t>
            </a:r>
          </a:p>
        </p:txBody>
      </p:sp>
      <p:sp>
        <p:nvSpPr>
          <p:cNvPr id="15" name="Fluxograma: Processo 14">
            <a:extLst>
              <a:ext uri="{FF2B5EF4-FFF2-40B4-BE49-F238E27FC236}">
                <a16:creationId xmlns:a16="http://schemas.microsoft.com/office/drawing/2014/main" id="{8A3448E9-3D03-C20F-D10D-573C816B88D3}"/>
              </a:ext>
            </a:extLst>
          </p:cNvPr>
          <p:cNvSpPr/>
          <p:nvPr/>
        </p:nvSpPr>
        <p:spPr>
          <a:xfrm>
            <a:off x="8323004" y="3210306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S()</a:t>
            </a:r>
          </a:p>
        </p:txBody>
      </p:sp>
      <p:sp>
        <p:nvSpPr>
          <p:cNvPr id="17" name="Fluxograma: Processo 16">
            <a:extLst>
              <a:ext uri="{FF2B5EF4-FFF2-40B4-BE49-F238E27FC236}">
                <a16:creationId xmlns:a16="http://schemas.microsoft.com/office/drawing/2014/main" id="{46E1A8B2-EC35-A125-9262-73D782D040F5}"/>
              </a:ext>
            </a:extLst>
          </p:cNvPr>
          <p:cNvSpPr/>
          <p:nvPr/>
        </p:nvSpPr>
        <p:spPr>
          <a:xfrm>
            <a:off x="9202992" y="3220139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S()</a:t>
            </a:r>
          </a:p>
        </p:txBody>
      </p:sp>
      <p:sp>
        <p:nvSpPr>
          <p:cNvPr id="19" name="Fluxograma: Processo 18">
            <a:extLst>
              <a:ext uri="{FF2B5EF4-FFF2-40B4-BE49-F238E27FC236}">
                <a16:creationId xmlns:a16="http://schemas.microsoft.com/office/drawing/2014/main" id="{1E22394B-4717-AB09-6DCC-264104BB7129}"/>
              </a:ext>
            </a:extLst>
          </p:cNvPr>
          <p:cNvSpPr/>
          <p:nvPr/>
        </p:nvSpPr>
        <p:spPr>
          <a:xfrm>
            <a:off x="10082978" y="3210306"/>
            <a:ext cx="766917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S()</a:t>
            </a:r>
          </a:p>
        </p:txBody>
      </p:sp>
      <p:sp>
        <p:nvSpPr>
          <p:cNvPr id="21" name="Fluxograma: Processo 20">
            <a:extLst>
              <a:ext uri="{FF2B5EF4-FFF2-40B4-BE49-F238E27FC236}">
                <a16:creationId xmlns:a16="http://schemas.microsoft.com/office/drawing/2014/main" id="{CCB34D98-CE2D-5D32-B219-272D293EF476}"/>
              </a:ext>
            </a:extLst>
          </p:cNvPr>
          <p:cNvSpPr/>
          <p:nvPr/>
        </p:nvSpPr>
        <p:spPr>
          <a:xfrm>
            <a:off x="7443017" y="4336026"/>
            <a:ext cx="3406878" cy="580104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+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E63015A-9D12-F254-5300-BE964E053C17}"/>
              </a:ext>
            </a:extLst>
          </p:cNvPr>
          <p:cNvCxnSpPr>
            <a:stCxn id="11" idx="2"/>
          </p:cNvCxnSpPr>
          <p:nvPr/>
        </p:nvCxnSpPr>
        <p:spPr>
          <a:xfrm flipH="1">
            <a:off x="9146456" y="1717839"/>
            <a:ext cx="1" cy="5042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592DE3F8-86F7-C64E-8DE8-0473784C605D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7826476" y="2929976"/>
            <a:ext cx="1" cy="2901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10579741-A8D5-93D2-5147-B1AF1EFB3EBD}"/>
              </a:ext>
            </a:extLst>
          </p:cNvPr>
          <p:cNvCxnSpPr/>
          <p:nvPr/>
        </p:nvCxnSpPr>
        <p:spPr>
          <a:xfrm flipH="1">
            <a:off x="8706460" y="2925060"/>
            <a:ext cx="1" cy="2901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94A92B8-2D2D-3975-B1CB-59A5FF4C0079}"/>
              </a:ext>
            </a:extLst>
          </p:cNvPr>
          <p:cNvCxnSpPr/>
          <p:nvPr/>
        </p:nvCxnSpPr>
        <p:spPr>
          <a:xfrm flipH="1">
            <a:off x="9586444" y="2944798"/>
            <a:ext cx="1" cy="2901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DDE91BF-3E8E-C86F-8C30-79D54188125A}"/>
              </a:ext>
            </a:extLst>
          </p:cNvPr>
          <p:cNvCxnSpPr/>
          <p:nvPr/>
        </p:nvCxnSpPr>
        <p:spPr>
          <a:xfrm flipH="1">
            <a:off x="10466428" y="2920143"/>
            <a:ext cx="1" cy="29016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55A9AFA5-DF64-B15E-A4FF-A7EEB63BC9D7}"/>
              </a:ext>
            </a:extLst>
          </p:cNvPr>
          <p:cNvCxnSpPr>
            <a:stCxn id="13" idx="2"/>
          </p:cNvCxnSpPr>
          <p:nvPr/>
        </p:nvCxnSpPr>
        <p:spPr>
          <a:xfrm flipH="1">
            <a:off x="7826475" y="3928025"/>
            <a:ext cx="1" cy="4080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644C1C1C-6F95-1BCB-BC5C-71A3A74BF8F2}"/>
              </a:ext>
            </a:extLst>
          </p:cNvPr>
          <p:cNvCxnSpPr/>
          <p:nvPr/>
        </p:nvCxnSpPr>
        <p:spPr>
          <a:xfrm flipH="1">
            <a:off x="8706458" y="3928025"/>
            <a:ext cx="1" cy="4080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F7296BF9-7B35-78BA-A9AA-9DE6DCE0612D}"/>
              </a:ext>
            </a:extLst>
          </p:cNvPr>
          <p:cNvCxnSpPr/>
          <p:nvPr/>
        </p:nvCxnSpPr>
        <p:spPr>
          <a:xfrm flipH="1">
            <a:off x="9586444" y="3937858"/>
            <a:ext cx="1" cy="4080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A1F38C4F-A901-7C30-C997-6477BA59CD55}"/>
              </a:ext>
            </a:extLst>
          </p:cNvPr>
          <p:cNvCxnSpPr/>
          <p:nvPr/>
        </p:nvCxnSpPr>
        <p:spPr>
          <a:xfrm flipH="1">
            <a:off x="10466427" y="3918192"/>
            <a:ext cx="1" cy="4080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5F1E472-C3D3-D3C9-B661-23CF6720A77A}"/>
              </a:ext>
            </a:extLst>
          </p:cNvPr>
          <p:cNvSpPr txBox="1"/>
          <p:nvPr/>
        </p:nvSpPr>
        <p:spPr>
          <a:xfrm>
            <a:off x="7443017" y="5348748"/>
            <a:ext cx="3406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" panose="020B0004020202020204" pitchFamily="34" charset="0"/>
              </a:rPr>
              <a:t>32 bits output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DE763B1F-F3F6-4EB0-718E-4A5D61F7ACEC}"/>
              </a:ext>
            </a:extLst>
          </p:cNvPr>
          <p:cNvCxnSpPr>
            <a:stCxn id="21" idx="2"/>
            <a:endCxn id="35" idx="0"/>
          </p:cNvCxnSpPr>
          <p:nvPr/>
        </p:nvCxnSpPr>
        <p:spPr>
          <a:xfrm>
            <a:off x="9146456" y="4916130"/>
            <a:ext cx="0" cy="43261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98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3BA131F-7E78-DDCA-BF7F-3278FCB4DFBC}"/>
              </a:ext>
            </a:extLst>
          </p:cNvPr>
          <p:cNvSpPr txBox="1"/>
          <p:nvPr/>
        </p:nvSpPr>
        <p:spPr>
          <a:xfrm>
            <a:off x="0" y="147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Linear </a:t>
            </a:r>
            <a:r>
              <a:rPr lang="pt-BR" sz="4000" dirty="0" err="1">
                <a:latin typeface="Aptos" panose="020B0004020202020204" pitchFamily="34" charset="0"/>
              </a:rPr>
              <a:t>Transformation</a:t>
            </a:r>
            <a:endParaRPr lang="pt-BR" sz="4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9424AB-332B-C73D-9903-F15BBF206134}"/>
              </a:ext>
            </a:extLst>
          </p:cNvPr>
          <p:cNvSpPr txBox="1"/>
          <p:nvPr/>
        </p:nvSpPr>
        <p:spPr>
          <a:xfrm>
            <a:off x="412955" y="1042219"/>
            <a:ext cx="49161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After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S-box</a:t>
            </a:r>
            <a:r>
              <a:rPr lang="pt-BR" dirty="0"/>
              <a:t> </a:t>
            </a:r>
            <a:r>
              <a:rPr lang="pt-BR" dirty="0" err="1"/>
              <a:t>substitution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resulting</a:t>
            </a:r>
            <a:r>
              <a:rPr lang="pt-BR" dirty="0"/>
              <a:t> 32-bit word B passes </a:t>
            </a:r>
            <a:r>
              <a:rPr lang="pt-BR" dirty="0" err="1"/>
              <a:t>through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linear </a:t>
            </a:r>
            <a:r>
              <a:rPr lang="pt-BR" dirty="0" err="1"/>
              <a:t>transformation</a:t>
            </a:r>
            <a:r>
              <a:rPr lang="pt-BR" dirty="0"/>
              <a:t> L.</a:t>
            </a:r>
          </a:p>
          <a:p>
            <a:r>
              <a:rPr lang="pt-BR" dirty="0"/>
              <a:t>The </a:t>
            </a:r>
            <a:r>
              <a:rPr lang="pt-BR" dirty="0" err="1"/>
              <a:t>encryption</a:t>
            </a:r>
            <a:r>
              <a:rPr lang="pt-BR" dirty="0"/>
              <a:t> linear </a:t>
            </a:r>
            <a:r>
              <a:rPr lang="pt-BR" dirty="0" err="1"/>
              <a:t>transformation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:</a:t>
            </a:r>
          </a:p>
          <a:p>
            <a:r>
              <a:rPr lang="pt-BR" dirty="0"/>
              <a:t>L(B) = B</a:t>
            </a:r>
          </a:p>
          <a:p>
            <a:r>
              <a:rPr lang="pt-BR" dirty="0"/>
              <a:t>       XOR (B &lt;&lt;&lt; 2)</a:t>
            </a:r>
          </a:p>
          <a:p>
            <a:r>
              <a:rPr lang="pt-BR" dirty="0"/>
              <a:t>       XOR (B &lt;&lt;&lt; 10)</a:t>
            </a:r>
          </a:p>
          <a:p>
            <a:r>
              <a:rPr lang="pt-BR" dirty="0"/>
              <a:t>       XOR (B &lt;&lt;&lt; 18)</a:t>
            </a:r>
          </a:p>
          <a:p>
            <a:r>
              <a:rPr lang="pt-BR" dirty="0"/>
              <a:t>       XOR (B &lt;&lt;&lt; 24)</a:t>
            </a:r>
          </a:p>
          <a:p>
            <a:r>
              <a:rPr lang="pt-BR" dirty="0" err="1"/>
              <a:t>where</a:t>
            </a:r>
            <a:r>
              <a:rPr lang="pt-BR" dirty="0"/>
              <a:t> &lt;&lt;&lt; </a:t>
            </a:r>
            <a:r>
              <a:rPr lang="pt-BR" dirty="0" err="1"/>
              <a:t>represents</a:t>
            </a:r>
            <a:r>
              <a:rPr lang="pt-BR" dirty="0"/>
              <a:t> a </a:t>
            </a:r>
            <a:r>
              <a:rPr lang="pt-BR" b="1" dirty="0"/>
              <a:t>32-bit circular </a:t>
            </a:r>
            <a:r>
              <a:rPr lang="pt-BR" b="1" dirty="0" err="1"/>
              <a:t>left</a:t>
            </a:r>
            <a:r>
              <a:rPr lang="pt-BR" b="1" dirty="0"/>
              <a:t> </a:t>
            </a:r>
            <a:r>
              <a:rPr lang="pt-BR" b="1" dirty="0" err="1"/>
              <a:t>rotation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The </a:t>
            </a:r>
            <a:r>
              <a:rPr lang="pt-BR" dirty="0" err="1"/>
              <a:t>combination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S-box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linear </a:t>
            </a:r>
            <a:r>
              <a:rPr lang="pt-BR" dirty="0" err="1"/>
              <a:t>transformation</a:t>
            </a:r>
            <a:r>
              <a:rPr lang="pt-BR" dirty="0"/>
              <a:t> </a:t>
            </a:r>
            <a:r>
              <a:rPr lang="pt-BR" dirty="0" err="1"/>
              <a:t>forms</a:t>
            </a:r>
            <a:r>
              <a:rPr lang="pt-BR" dirty="0"/>
              <a:t>:</a:t>
            </a:r>
          </a:p>
          <a:p>
            <a:r>
              <a:rPr lang="pt-BR" dirty="0"/>
              <a:t>T(B) = L(tau(B))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777FE50A-5EC1-AC8D-2576-E6AC410F4325}"/>
              </a:ext>
            </a:extLst>
          </p:cNvPr>
          <p:cNvSpPr/>
          <p:nvPr/>
        </p:nvSpPr>
        <p:spPr>
          <a:xfrm>
            <a:off x="7600337" y="1750142"/>
            <a:ext cx="707923" cy="2487561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+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49059C-7137-1CEA-4D3A-F98F0DA7E12B}"/>
              </a:ext>
            </a:extLst>
          </p:cNvPr>
          <p:cNvSpPr txBox="1"/>
          <p:nvPr/>
        </p:nvSpPr>
        <p:spPr>
          <a:xfrm>
            <a:off x="7600337" y="1042219"/>
            <a:ext cx="707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6" name="Fluxograma: Ou 5">
            <a:extLst>
              <a:ext uri="{FF2B5EF4-FFF2-40B4-BE49-F238E27FC236}">
                <a16:creationId xmlns:a16="http://schemas.microsoft.com/office/drawing/2014/main" id="{76BF918E-F080-FF32-2BA7-F9B45169800C}"/>
              </a:ext>
            </a:extLst>
          </p:cNvPr>
          <p:cNvSpPr/>
          <p:nvPr/>
        </p:nvSpPr>
        <p:spPr>
          <a:xfrm>
            <a:off x="7688827" y="4699819"/>
            <a:ext cx="550608" cy="570271"/>
          </a:xfrm>
          <a:prstGeom prst="flowChartOr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47D05D-2EF8-D890-7C69-5773A7F21486}"/>
              </a:ext>
            </a:extLst>
          </p:cNvPr>
          <p:cNvSpPr txBox="1"/>
          <p:nvPr/>
        </p:nvSpPr>
        <p:spPr>
          <a:xfrm>
            <a:off x="9006348" y="1988573"/>
            <a:ext cx="1071716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B &lt;&lt;&lt; 2</a:t>
            </a:r>
            <a:endParaRPr lang="pt-BR" sz="105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706784-D22C-4D62-6AAE-7611C1E0B52C}"/>
              </a:ext>
            </a:extLst>
          </p:cNvPr>
          <p:cNvSpPr txBox="1"/>
          <p:nvPr/>
        </p:nvSpPr>
        <p:spPr>
          <a:xfrm>
            <a:off x="9006348" y="2525661"/>
            <a:ext cx="1071716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B &lt;&lt;&lt; 2</a:t>
            </a:r>
            <a:endParaRPr lang="pt-BR" sz="105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9956B34-7D3D-BA8D-E4F0-4ADEBE636DC9}"/>
              </a:ext>
            </a:extLst>
          </p:cNvPr>
          <p:cNvSpPr txBox="1"/>
          <p:nvPr/>
        </p:nvSpPr>
        <p:spPr>
          <a:xfrm>
            <a:off x="9006348" y="3599837"/>
            <a:ext cx="1071716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B &lt;&lt;&lt; 2</a:t>
            </a:r>
            <a:endParaRPr lang="pt-BR" sz="105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CF9C213-207C-35FE-4984-8B10566A0296}"/>
              </a:ext>
            </a:extLst>
          </p:cNvPr>
          <p:cNvSpPr txBox="1"/>
          <p:nvPr/>
        </p:nvSpPr>
        <p:spPr>
          <a:xfrm>
            <a:off x="9006348" y="3062749"/>
            <a:ext cx="1071716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B &lt;&lt;&lt; 2</a:t>
            </a:r>
            <a:endParaRPr lang="pt-BR" sz="105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6D8626B-13B4-FF67-1C3A-7EDB06493C9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308260" y="2179073"/>
            <a:ext cx="69808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0511E3B-9849-F087-B84E-12B4E7DF02F8}"/>
              </a:ext>
            </a:extLst>
          </p:cNvPr>
          <p:cNvCxnSpPr>
            <a:cxnSpLocks/>
          </p:cNvCxnSpPr>
          <p:nvPr/>
        </p:nvCxnSpPr>
        <p:spPr>
          <a:xfrm flipH="1">
            <a:off x="8308260" y="2724764"/>
            <a:ext cx="69808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12223DD8-8E37-E0AB-3917-E58705A666F3}"/>
              </a:ext>
            </a:extLst>
          </p:cNvPr>
          <p:cNvCxnSpPr>
            <a:cxnSpLocks/>
          </p:cNvCxnSpPr>
          <p:nvPr/>
        </p:nvCxnSpPr>
        <p:spPr>
          <a:xfrm flipH="1">
            <a:off x="8308260" y="3226209"/>
            <a:ext cx="69808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A0F06E69-2DB6-AE4C-83E6-F0F293C8BE39}"/>
              </a:ext>
            </a:extLst>
          </p:cNvPr>
          <p:cNvCxnSpPr>
            <a:cxnSpLocks/>
          </p:cNvCxnSpPr>
          <p:nvPr/>
        </p:nvCxnSpPr>
        <p:spPr>
          <a:xfrm flipH="1">
            <a:off x="8308260" y="3786647"/>
            <a:ext cx="69808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9ABD9CA5-BF1E-97DD-B237-F0D06B7CB443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7954299" y="1411551"/>
            <a:ext cx="0" cy="33859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A393A2A-140D-C7BF-EB4E-D4DF478EFDFD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7954299" y="4237703"/>
            <a:ext cx="9832" cy="46211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F828390-78CB-293E-8BBF-A4B3E37B7BE4}"/>
              </a:ext>
            </a:extLst>
          </p:cNvPr>
          <p:cNvCxnSpPr>
            <a:stCxn id="6" idx="4"/>
          </p:cNvCxnSpPr>
          <p:nvPr/>
        </p:nvCxnSpPr>
        <p:spPr>
          <a:xfrm>
            <a:off x="7964131" y="5270090"/>
            <a:ext cx="0" cy="4031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40AA1A3-D7F4-402E-744C-2D37816EF043}"/>
              </a:ext>
            </a:extLst>
          </p:cNvPr>
          <p:cNvSpPr txBox="1"/>
          <p:nvPr/>
        </p:nvSpPr>
        <p:spPr>
          <a:xfrm>
            <a:off x="7668341" y="5732206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L(B)</a:t>
            </a:r>
          </a:p>
        </p:txBody>
      </p:sp>
    </p:spTree>
    <p:extLst>
      <p:ext uri="{BB962C8B-B14F-4D97-AF65-F5344CB8AC3E}">
        <p14:creationId xmlns:p14="http://schemas.microsoft.com/office/powerpoint/2010/main" val="3026688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612485-C8B8-BD04-E192-9E16C399CAA8}"/>
              </a:ext>
            </a:extLst>
          </p:cNvPr>
          <p:cNvSpPr txBox="1"/>
          <p:nvPr/>
        </p:nvSpPr>
        <p:spPr>
          <a:xfrm>
            <a:off x="0" y="21630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Complete SM4 Round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81D3BA-BFA2-FC7D-48A9-8E526A4365D6}"/>
              </a:ext>
            </a:extLst>
          </p:cNvPr>
          <p:cNvSpPr txBox="1"/>
          <p:nvPr/>
        </p:nvSpPr>
        <p:spPr>
          <a:xfrm>
            <a:off x="678426" y="1023416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A complete round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can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therefore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be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expanded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as:</a:t>
            </a:r>
            <a:endParaRPr lang="pt-BR" dirty="0"/>
          </a:p>
        </p:txBody>
      </p:sp>
      <p:sp>
        <p:nvSpPr>
          <p:cNvPr id="5" name="Fluxograma: Processo 4">
            <a:extLst>
              <a:ext uri="{FF2B5EF4-FFF2-40B4-BE49-F238E27FC236}">
                <a16:creationId xmlns:a16="http://schemas.microsoft.com/office/drawing/2014/main" id="{33465789-6BD8-365D-9C99-D6761FB78377}"/>
              </a:ext>
            </a:extLst>
          </p:cNvPr>
          <p:cNvSpPr/>
          <p:nvPr/>
        </p:nvSpPr>
        <p:spPr>
          <a:xfrm>
            <a:off x="1630109" y="1741798"/>
            <a:ext cx="589936" cy="1150374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+</a:t>
            </a:r>
          </a:p>
        </p:txBody>
      </p:sp>
      <p:sp>
        <p:nvSpPr>
          <p:cNvPr id="6" name="Fluxograma: Ou 5">
            <a:extLst>
              <a:ext uri="{FF2B5EF4-FFF2-40B4-BE49-F238E27FC236}">
                <a16:creationId xmlns:a16="http://schemas.microsoft.com/office/drawing/2014/main" id="{E1813A84-7815-D395-ECE2-97CD0CE3C5C8}"/>
              </a:ext>
            </a:extLst>
          </p:cNvPr>
          <p:cNvSpPr/>
          <p:nvPr/>
        </p:nvSpPr>
        <p:spPr>
          <a:xfrm>
            <a:off x="2658268" y="2085927"/>
            <a:ext cx="442451" cy="462116"/>
          </a:xfrm>
          <a:prstGeom prst="flowChartOr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Processo 7">
            <a:extLst>
              <a:ext uri="{FF2B5EF4-FFF2-40B4-BE49-F238E27FC236}">
                <a16:creationId xmlns:a16="http://schemas.microsoft.com/office/drawing/2014/main" id="{EEF364D0-78BE-F577-710C-0DC7110CA7B2}"/>
              </a:ext>
            </a:extLst>
          </p:cNvPr>
          <p:cNvSpPr/>
          <p:nvPr/>
        </p:nvSpPr>
        <p:spPr>
          <a:xfrm>
            <a:off x="3460955" y="3048000"/>
            <a:ext cx="530942" cy="540774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+</a:t>
            </a:r>
          </a:p>
        </p:txBody>
      </p:sp>
      <p:sp>
        <p:nvSpPr>
          <p:cNvPr id="11" name="Fluxograma: Ou 10">
            <a:extLst>
              <a:ext uri="{FF2B5EF4-FFF2-40B4-BE49-F238E27FC236}">
                <a16:creationId xmlns:a16="http://schemas.microsoft.com/office/drawing/2014/main" id="{E18A08BB-BD51-F159-24B2-D583706B9898}"/>
              </a:ext>
            </a:extLst>
          </p:cNvPr>
          <p:cNvSpPr/>
          <p:nvPr/>
        </p:nvSpPr>
        <p:spPr>
          <a:xfrm>
            <a:off x="4488426" y="3087329"/>
            <a:ext cx="442451" cy="462116"/>
          </a:xfrm>
          <a:prstGeom prst="flowChartOr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luxograma: Processo 11">
            <a:extLst>
              <a:ext uri="{FF2B5EF4-FFF2-40B4-BE49-F238E27FC236}">
                <a16:creationId xmlns:a16="http://schemas.microsoft.com/office/drawing/2014/main" id="{3BA3314D-D842-E6C1-3849-256FF65E6739}"/>
              </a:ext>
            </a:extLst>
          </p:cNvPr>
          <p:cNvSpPr/>
          <p:nvPr/>
        </p:nvSpPr>
        <p:spPr>
          <a:xfrm>
            <a:off x="5953434" y="3003754"/>
            <a:ext cx="1219200" cy="629265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S-Box</a:t>
            </a:r>
            <a:endParaRPr lang="pt-BR" dirty="0"/>
          </a:p>
        </p:txBody>
      </p:sp>
      <p:sp>
        <p:nvSpPr>
          <p:cNvPr id="13" name="Fluxograma: Processo 12">
            <a:extLst>
              <a:ext uri="{FF2B5EF4-FFF2-40B4-BE49-F238E27FC236}">
                <a16:creationId xmlns:a16="http://schemas.microsoft.com/office/drawing/2014/main" id="{0193C117-FAFA-7528-8732-98F7980964D4}"/>
              </a:ext>
            </a:extLst>
          </p:cNvPr>
          <p:cNvSpPr/>
          <p:nvPr/>
        </p:nvSpPr>
        <p:spPr>
          <a:xfrm>
            <a:off x="5166853" y="4198374"/>
            <a:ext cx="2792361" cy="707886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Linear </a:t>
            </a:r>
            <a:r>
              <a:rPr lang="pt-BR" dirty="0" err="1"/>
              <a:t>Transformation</a:t>
            </a:r>
            <a:endParaRPr lang="pt-BR" dirty="0"/>
          </a:p>
        </p:txBody>
      </p:sp>
      <p:sp>
        <p:nvSpPr>
          <p:cNvPr id="15" name="Fluxograma: Processo 14">
            <a:extLst>
              <a:ext uri="{FF2B5EF4-FFF2-40B4-BE49-F238E27FC236}">
                <a16:creationId xmlns:a16="http://schemas.microsoft.com/office/drawing/2014/main" id="{BC9FBC32-FA4A-C01C-FF66-EACF544FA446}"/>
              </a:ext>
            </a:extLst>
          </p:cNvPr>
          <p:cNvSpPr/>
          <p:nvPr/>
        </p:nvSpPr>
        <p:spPr>
          <a:xfrm>
            <a:off x="6297562" y="5564197"/>
            <a:ext cx="530942" cy="540774"/>
          </a:xfrm>
          <a:prstGeom prst="flowChartProces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+</a:t>
            </a:r>
          </a:p>
        </p:txBody>
      </p:sp>
      <p:sp>
        <p:nvSpPr>
          <p:cNvPr id="17" name="Fluxograma: Ou 16">
            <a:extLst>
              <a:ext uri="{FF2B5EF4-FFF2-40B4-BE49-F238E27FC236}">
                <a16:creationId xmlns:a16="http://schemas.microsoft.com/office/drawing/2014/main" id="{A19581D8-91EA-7B01-B74A-EDF5539CA557}"/>
              </a:ext>
            </a:extLst>
          </p:cNvPr>
          <p:cNvSpPr/>
          <p:nvPr/>
        </p:nvSpPr>
        <p:spPr>
          <a:xfrm>
            <a:off x="7959214" y="5564197"/>
            <a:ext cx="530942" cy="540774"/>
          </a:xfrm>
          <a:prstGeom prst="flowChartOr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36CC616-3302-378C-7F32-DA377831419B}"/>
              </a:ext>
            </a:extLst>
          </p:cNvPr>
          <p:cNvSpPr txBox="1"/>
          <p:nvPr/>
        </p:nvSpPr>
        <p:spPr>
          <a:xfrm>
            <a:off x="7502013" y="1023416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Or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mathematically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indent="0" algn="l"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B = Xi+1 XOR Xi+2 XOR Xi+3 XOR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+mn-lt"/>
              </a:rPr>
              <a:t>rki</a:t>
            </a:r>
            <a:endParaRPr lang="pt-BR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endParaRPr lang="pt-BR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+mn-lt"/>
              </a:rPr>
              <a:t>Xi+4 = Xi XOR T(B)</a:t>
            </a:r>
            <a:endParaRPr lang="pt-BR" sz="105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5E3FD18-B4A5-2CEA-7341-396F5722BC72}"/>
              </a:ext>
            </a:extLst>
          </p:cNvPr>
          <p:cNvSpPr txBox="1"/>
          <p:nvPr/>
        </p:nvSpPr>
        <p:spPr>
          <a:xfrm>
            <a:off x="401747" y="1762079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Xi+1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FA68E47-DFF6-EA30-46FA-B5A120A2868D}"/>
              </a:ext>
            </a:extLst>
          </p:cNvPr>
          <p:cNvSpPr txBox="1"/>
          <p:nvPr/>
        </p:nvSpPr>
        <p:spPr>
          <a:xfrm>
            <a:off x="410891" y="2163097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Xi+2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4FD3231-F1CC-EB0F-9D6F-83F55AA4AFD6}"/>
              </a:ext>
            </a:extLst>
          </p:cNvPr>
          <p:cNvSpPr txBox="1"/>
          <p:nvPr/>
        </p:nvSpPr>
        <p:spPr>
          <a:xfrm>
            <a:off x="401746" y="2554603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Xi+3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622883B-5790-E447-90EA-BCFC79D7F879}"/>
              </a:ext>
            </a:extLst>
          </p:cNvPr>
          <p:cNvCxnSpPr>
            <a:stCxn id="24" idx="3"/>
            <a:endCxn id="5" idx="1"/>
          </p:cNvCxnSpPr>
          <p:nvPr/>
        </p:nvCxnSpPr>
        <p:spPr>
          <a:xfrm flipV="1">
            <a:off x="970660" y="2316985"/>
            <a:ext cx="659449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27ABE8F-085E-D476-4006-D4DE16958B34}"/>
              </a:ext>
            </a:extLst>
          </p:cNvPr>
          <p:cNvCxnSpPr/>
          <p:nvPr/>
        </p:nvCxnSpPr>
        <p:spPr>
          <a:xfrm flipV="1">
            <a:off x="970660" y="2708491"/>
            <a:ext cx="659449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40F2ACDD-E90F-DF26-22DD-47E06D82B10D}"/>
              </a:ext>
            </a:extLst>
          </p:cNvPr>
          <p:cNvCxnSpPr/>
          <p:nvPr/>
        </p:nvCxnSpPr>
        <p:spPr>
          <a:xfrm flipV="1">
            <a:off x="961515" y="1938289"/>
            <a:ext cx="659449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9D63A783-689D-6859-56F5-BBEC61AB62C6}"/>
              </a:ext>
            </a:extLst>
          </p:cNvPr>
          <p:cNvCxnSpPr>
            <a:stCxn id="5" idx="3"/>
            <a:endCxn id="6" idx="2"/>
          </p:cNvCxnSpPr>
          <p:nvPr/>
        </p:nvCxnSpPr>
        <p:spPr>
          <a:xfrm>
            <a:off x="2220045" y="2316985"/>
            <a:ext cx="43822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42779964-FF5B-638F-D2BF-38276F9D9986}"/>
              </a:ext>
            </a:extLst>
          </p:cNvPr>
          <p:cNvCxnSpPr>
            <a:stCxn id="6" idx="6"/>
            <a:endCxn id="8" idx="0"/>
          </p:cNvCxnSpPr>
          <p:nvPr/>
        </p:nvCxnSpPr>
        <p:spPr>
          <a:xfrm>
            <a:off x="3100719" y="2316985"/>
            <a:ext cx="625707" cy="73101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E9ABE14-D7A1-F73E-1E10-8E5FA250B082}"/>
              </a:ext>
            </a:extLst>
          </p:cNvPr>
          <p:cNvSpPr txBox="1"/>
          <p:nvPr/>
        </p:nvSpPr>
        <p:spPr>
          <a:xfrm>
            <a:off x="410891" y="3121223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rki</a:t>
            </a:r>
            <a:endParaRPr lang="pt-BR" sz="1400" dirty="0"/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19BBC86F-4710-1071-956B-08348FA499EF}"/>
              </a:ext>
            </a:extLst>
          </p:cNvPr>
          <p:cNvCxnSpPr>
            <a:endCxn id="8" idx="1"/>
          </p:cNvCxnSpPr>
          <p:nvPr/>
        </p:nvCxnSpPr>
        <p:spPr>
          <a:xfrm>
            <a:off x="924647" y="3318386"/>
            <a:ext cx="2536308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E4D00917-BBD0-0B88-415A-67A68DA5B295}"/>
              </a:ext>
            </a:extLst>
          </p:cNvPr>
          <p:cNvCxnSpPr>
            <a:stCxn id="8" idx="3"/>
            <a:endCxn id="11" idx="2"/>
          </p:cNvCxnSpPr>
          <p:nvPr/>
        </p:nvCxnSpPr>
        <p:spPr>
          <a:xfrm>
            <a:off x="3991897" y="3318387"/>
            <a:ext cx="49652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A6BC139D-39FD-05BD-1EC6-0B75CBCFF2C5}"/>
              </a:ext>
            </a:extLst>
          </p:cNvPr>
          <p:cNvCxnSpPr>
            <a:stCxn id="11" idx="6"/>
            <a:endCxn id="12" idx="1"/>
          </p:cNvCxnSpPr>
          <p:nvPr/>
        </p:nvCxnSpPr>
        <p:spPr>
          <a:xfrm>
            <a:off x="4930877" y="3318387"/>
            <a:ext cx="102255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B48CE27-5874-4D4B-FACA-EA823BE2B610}"/>
              </a:ext>
            </a:extLst>
          </p:cNvPr>
          <p:cNvSpPr txBox="1"/>
          <p:nvPr/>
        </p:nvSpPr>
        <p:spPr>
          <a:xfrm>
            <a:off x="5195511" y="2954940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292306E8-EB8B-16A1-B2B1-9EFBAB35062C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6563034" y="3633019"/>
            <a:ext cx="0" cy="5653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65888316-0763-8ABD-A2D5-8648BDA9BBC9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flipH="1">
            <a:off x="6563033" y="4906260"/>
            <a:ext cx="1" cy="6579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7DA9C502-608B-2280-756F-E07A82D85A08}"/>
              </a:ext>
            </a:extLst>
          </p:cNvPr>
          <p:cNvCxnSpPr>
            <a:stCxn id="15" idx="3"/>
            <a:endCxn id="17" idx="2"/>
          </p:cNvCxnSpPr>
          <p:nvPr/>
        </p:nvCxnSpPr>
        <p:spPr>
          <a:xfrm>
            <a:off x="6828504" y="5834584"/>
            <a:ext cx="113071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F99330B9-F6FD-F62B-A494-26B93F34C709}"/>
              </a:ext>
            </a:extLst>
          </p:cNvPr>
          <p:cNvSpPr txBox="1"/>
          <p:nvPr/>
        </p:nvSpPr>
        <p:spPr>
          <a:xfrm>
            <a:off x="6563033" y="368474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tau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A683921-6586-997E-C1C6-00B3013F8005}"/>
              </a:ext>
            </a:extLst>
          </p:cNvPr>
          <p:cNvSpPr txBox="1"/>
          <p:nvPr/>
        </p:nvSpPr>
        <p:spPr>
          <a:xfrm>
            <a:off x="6563033" y="504052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T(B)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DBDBBF5-722D-28F3-B230-BC8E011DA1AD}"/>
              </a:ext>
            </a:extLst>
          </p:cNvPr>
          <p:cNvSpPr txBox="1"/>
          <p:nvPr/>
        </p:nvSpPr>
        <p:spPr>
          <a:xfrm>
            <a:off x="9338577" y="5680695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Xi+4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EA78B694-567E-08AD-79A9-78C4F47FF85E}"/>
              </a:ext>
            </a:extLst>
          </p:cNvPr>
          <p:cNvCxnSpPr>
            <a:stCxn id="17" idx="6"/>
          </p:cNvCxnSpPr>
          <p:nvPr/>
        </p:nvCxnSpPr>
        <p:spPr>
          <a:xfrm flipV="1">
            <a:off x="8490156" y="5834583"/>
            <a:ext cx="74233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2388C2-2C51-7704-534D-B856C12F147B}"/>
              </a:ext>
            </a:extLst>
          </p:cNvPr>
          <p:cNvSpPr txBox="1"/>
          <p:nvPr/>
        </p:nvSpPr>
        <p:spPr>
          <a:xfrm>
            <a:off x="486693" y="5680694"/>
            <a:ext cx="344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Xi</a:t>
            </a:r>
            <a:endParaRPr lang="pt-BR" dirty="0"/>
          </a:p>
        </p:txBody>
      </p: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355368C7-C39E-1F47-6EAF-E12FEB4A54C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924647" y="5834584"/>
            <a:ext cx="537291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75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B96F0A-E161-1192-1087-D6AD6401F856}"/>
              </a:ext>
            </a:extLst>
          </p:cNvPr>
          <p:cNvSpPr txBox="1"/>
          <p:nvPr/>
        </p:nvSpPr>
        <p:spPr>
          <a:xfrm>
            <a:off x="0" y="31463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Final Output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892E21-2D47-87B3-8B89-AA014ED016C0}"/>
              </a:ext>
            </a:extLst>
          </p:cNvPr>
          <p:cNvSpPr txBox="1"/>
          <p:nvPr/>
        </p:nvSpPr>
        <p:spPr>
          <a:xfrm>
            <a:off x="599768" y="1120877"/>
            <a:ext cx="5761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After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32 rounds,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algorithm</a:t>
            </a:r>
            <a:r>
              <a:rPr lang="pt-BR" dirty="0"/>
              <a:t> </a:t>
            </a:r>
            <a:r>
              <a:rPr lang="pt-BR" dirty="0" err="1"/>
              <a:t>has</a:t>
            </a:r>
            <a:r>
              <a:rPr lang="pt-BR" dirty="0"/>
              <a:t> </a:t>
            </a:r>
            <a:r>
              <a:rPr lang="pt-BR" dirty="0" err="1"/>
              <a:t>generated</a:t>
            </a:r>
            <a:r>
              <a:rPr lang="pt-BR" dirty="0"/>
              <a:t>:</a:t>
            </a:r>
          </a:p>
          <a:p>
            <a:r>
              <a:rPr lang="pt-BR" dirty="0"/>
              <a:t>	X32, X33, X34, X35</a:t>
            </a:r>
          </a:p>
          <a:p>
            <a:r>
              <a:rPr lang="pt-BR" dirty="0"/>
              <a:t>SM4 reverses </a:t>
            </a:r>
            <a:r>
              <a:rPr lang="pt-BR" dirty="0" err="1"/>
              <a:t>their</a:t>
            </a:r>
            <a:r>
              <a:rPr lang="pt-BR" dirty="0"/>
              <a:t> </a:t>
            </a: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produce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ciphertext</a:t>
            </a:r>
            <a:r>
              <a:rPr lang="pt-BR" dirty="0"/>
              <a:t>:</a:t>
            </a:r>
          </a:p>
          <a:p>
            <a:r>
              <a:rPr lang="pt-BR" dirty="0"/>
              <a:t>	</a:t>
            </a:r>
            <a:r>
              <a:rPr lang="pt-BR" dirty="0" err="1"/>
              <a:t>Ciphertext</a:t>
            </a:r>
            <a:r>
              <a:rPr lang="pt-BR" dirty="0"/>
              <a:t> = (X35, X34, X33, X32)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23CC39-9893-49A1-7F7E-38DD803B2E1F}"/>
              </a:ext>
            </a:extLst>
          </p:cNvPr>
          <p:cNvSpPr/>
          <p:nvPr/>
        </p:nvSpPr>
        <p:spPr>
          <a:xfrm>
            <a:off x="8047703" y="1859541"/>
            <a:ext cx="1661652" cy="64892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Round 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E46099-F41F-E98F-63B0-F35ED274773D}"/>
              </a:ext>
            </a:extLst>
          </p:cNvPr>
          <p:cNvSpPr txBox="1"/>
          <p:nvPr/>
        </p:nvSpPr>
        <p:spPr>
          <a:xfrm>
            <a:off x="8711656" y="258264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...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0F6180-F92A-602C-4DEF-F5C3E2B35A48}"/>
              </a:ext>
            </a:extLst>
          </p:cNvPr>
          <p:cNvSpPr/>
          <p:nvPr/>
        </p:nvSpPr>
        <p:spPr>
          <a:xfrm>
            <a:off x="8047703" y="3114114"/>
            <a:ext cx="1661652" cy="64892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Round 31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3B7D7-C6D3-1C20-03EB-38656CDA9F3C}"/>
              </a:ext>
            </a:extLst>
          </p:cNvPr>
          <p:cNvSpPr txBox="1"/>
          <p:nvPr/>
        </p:nvSpPr>
        <p:spPr>
          <a:xfrm>
            <a:off x="8124957" y="1022519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X0 X1 X2 X3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0F4F26-09F4-6188-8EB3-60589A65D8F6}"/>
              </a:ext>
            </a:extLst>
          </p:cNvPr>
          <p:cNvSpPr txBox="1"/>
          <p:nvPr/>
        </p:nvSpPr>
        <p:spPr>
          <a:xfrm>
            <a:off x="7928589" y="4172042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X32 X33 X34 X35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74EF89E-885A-26EA-49A3-2E80259BF3DA}"/>
              </a:ext>
            </a:extLst>
          </p:cNvPr>
          <p:cNvSpPr txBox="1"/>
          <p:nvPr/>
        </p:nvSpPr>
        <p:spPr>
          <a:xfrm>
            <a:off x="8188436" y="4669571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Reverse </a:t>
            </a:r>
            <a:r>
              <a:rPr lang="pt-BR" dirty="0" err="1"/>
              <a:t>order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EF949F6-3D7D-D603-1CAA-AB0DCCB49D93}"/>
              </a:ext>
            </a:extLst>
          </p:cNvPr>
          <p:cNvSpPr txBox="1"/>
          <p:nvPr/>
        </p:nvSpPr>
        <p:spPr>
          <a:xfrm>
            <a:off x="7992067" y="5223953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X35 X34 X33 X32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4C839B-431C-B9E2-FAC2-0AFF409C3926}"/>
              </a:ext>
            </a:extLst>
          </p:cNvPr>
          <p:cNvSpPr txBox="1"/>
          <p:nvPr/>
        </p:nvSpPr>
        <p:spPr>
          <a:xfrm>
            <a:off x="8306097" y="5778336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Ciphertext</a:t>
            </a:r>
            <a:endParaRPr lang="pt-BR" dirty="0"/>
          </a:p>
          <a:p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9C8E9DD-F17D-834F-8A5C-25B96DF5CDB3}"/>
              </a:ext>
            </a:extLst>
          </p:cNvPr>
          <p:cNvSpPr txBox="1"/>
          <p:nvPr/>
        </p:nvSpPr>
        <p:spPr>
          <a:xfrm>
            <a:off x="10422193" y="1999339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rk0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4A99F60-6BF1-C94B-BDA0-6538DC94AE3D}"/>
              </a:ext>
            </a:extLst>
          </p:cNvPr>
          <p:cNvSpPr txBox="1"/>
          <p:nvPr/>
        </p:nvSpPr>
        <p:spPr>
          <a:xfrm>
            <a:off x="10422193" y="3244334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rk31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85162835-6BF7-E9FC-5FB9-26AB7407B183}"/>
              </a:ext>
            </a:extLst>
          </p:cNvPr>
          <p:cNvCxnSpPr>
            <a:endCxn id="4" idx="0"/>
          </p:cNvCxnSpPr>
          <p:nvPr/>
        </p:nvCxnSpPr>
        <p:spPr>
          <a:xfrm>
            <a:off x="8878529" y="1425677"/>
            <a:ext cx="0" cy="4338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52FE7B14-2E07-4751-3523-332B9B4CE50B}"/>
              </a:ext>
            </a:extLst>
          </p:cNvPr>
          <p:cNvCxnSpPr>
            <a:stCxn id="15" idx="1"/>
            <a:endCxn id="4" idx="3"/>
          </p:cNvCxnSpPr>
          <p:nvPr/>
        </p:nvCxnSpPr>
        <p:spPr>
          <a:xfrm flipH="1">
            <a:off x="9709355" y="2184005"/>
            <a:ext cx="712838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799A743-1227-3463-9E82-CABF02001C16}"/>
              </a:ext>
            </a:extLst>
          </p:cNvPr>
          <p:cNvCxnSpPr/>
          <p:nvPr/>
        </p:nvCxnSpPr>
        <p:spPr>
          <a:xfrm flipH="1">
            <a:off x="9709355" y="3438578"/>
            <a:ext cx="712838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763F2086-F4F3-9170-F9AE-57523C5DEF52}"/>
              </a:ext>
            </a:extLst>
          </p:cNvPr>
          <p:cNvCxnSpPr>
            <a:stCxn id="7" idx="2"/>
          </p:cNvCxnSpPr>
          <p:nvPr/>
        </p:nvCxnSpPr>
        <p:spPr>
          <a:xfrm>
            <a:off x="8878529" y="3763043"/>
            <a:ext cx="0" cy="4089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9A96485A-BF9D-98C8-BE48-5DA340EE9C24}"/>
              </a:ext>
            </a:extLst>
          </p:cNvPr>
          <p:cNvCxnSpPr/>
          <p:nvPr/>
        </p:nvCxnSpPr>
        <p:spPr>
          <a:xfrm>
            <a:off x="8878529" y="4471796"/>
            <a:ext cx="0" cy="29496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43990D1F-6B4E-E449-CC66-C9AA8AE6C946}"/>
              </a:ext>
            </a:extLst>
          </p:cNvPr>
          <p:cNvCxnSpPr>
            <a:cxnSpLocks/>
          </p:cNvCxnSpPr>
          <p:nvPr/>
        </p:nvCxnSpPr>
        <p:spPr>
          <a:xfrm>
            <a:off x="8878529" y="5038903"/>
            <a:ext cx="0" cy="18505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DCDFCBFE-81FF-427D-7BCD-157E34193208}"/>
              </a:ext>
            </a:extLst>
          </p:cNvPr>
          <p:cNvCxnSpPr/>
          <p:nvPr/>
        </p:nvCxnSpPr>
        <p:spPr>
          <a:xfrm>
            <a:off x="8878529" y="5593285"/>
            <a:ext cx="0" cy="1850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197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F352D01-9392-6AB3-829A-428582D5D21D}"/>
              </a:ext>
            </a:extLst>
          </p:cNvPr>
          <p:cNvSpPr txBox="1"/>
          <p:nvPr/>
        </p:nvSpPr>
        <p:spPr>
          <a:xfrm>
            <a:off x="0" y="26547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Key </a:t>
            </a:r>
            <a:r>
              <a:rPr lang="pt-BR" sz="4000" dirty="0" err="1">
                <a:latin typeface="Aptos" panose="020B0004020202020204" pitchFamily="34" charset="0"/>
              </a:rPr>
              <a:t>Expansion</a:t>
            </a:r>
            <a:endParaRPr lang="pt-BR" sz="4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01EAD8-16B1-02E5-E95C-76DECD4CDBD1}"/>
              </a:ext>
            </a:extLst>
          </p:cNvPr>
          <p:cNvSpPr txBox="1"/>
          <p:nvPr/>
        </p:nvSpPr>
        <p:spPr>
          <a:xfrm>
            <a:off x="462117" y="1101213"/>
            <a:ext cx="85737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The 128-bit master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/>
              <a:t>cannot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directly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as a single </a:t>
            </a:r>
            <a:r>
              <a:rPr lang="pt-BR" dirty="0" err="1"/>
              <a:t>key</a:t>
            </a:r>
            <a:r>
              <a:rPr lang="pt-BR" dirty="0"/>
              <a:t> for </a:t>
            </a:r>
            <a:r>
              <a:rPr lang="pt-BR" dirty="0" err="1"/>
              <a:t>every</a:t>
            </a:r>
            <a:r>
              <a:rPr lang="pt-BR" dirty="0"/>
              <a:t> round.</a:t>
            </a:r>
          </a:p>
          <a:p>
            <a:r>
              <a:rPr lang="pt-BR" dirty="0" err="1"/>
              <a:t>Instead</a:t>
            </a:r>
            <a:r>
              <a:rPr lang="pt-BR" dirty="0"/>
              <a:t>, SM4 </a:t>
            </a:r>
            <a:r>
              <a:rPr lang="pt-BR" dirty="0" err="1"/>
              <a:t>generates</a:t>
            </a:r>
            <a:r>
              <a:rPr lang="pt-BR" dirty="0"/>
              <a:t> </a:t>
            </a:r>
            <a:r>
              <a:rPr lang="pt-BR" b="1" dirty="0"/>
              <a:t>32 </a:t>
            </a:r>
            <a:r>
              <a:rPr lang="pt-BR" b="1" dirty="0" err="1"/>
              <a:t>different</a:t>
            </a:r>
            <a:r>
              <a:rPr lang="pt-BR" b="1" dirty="0"/>
              <a:t> round </a:t>
            </a:r>
            <a:r>
              <a:rPr lang="pt-BR" b="1" dirty="0" err="1"/>
              <a:t>keys</a:t>
            </a:r>
            <a:r>
              <a:rPr lang="pt-BR" dirty="0"/>
              <a:t>.</a:t>
            </a:r>
          </a:p>
          <a:p>
            <a:r>
              <a:rPr lang="pt-BR" dirty="0"/>
              <a:t>The master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initially</a:t>
            </a:r>
            <a:r>
              <a:rPr lang="pt-BR" dirty="0"/>
              <a:t> </a:t>
            </a:r>
            <a:r>
              <a:rPr lang="pt-BR" dirty="0" err="1"/>
              <a:t>divided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:</a:t>
            </a:r>
          </a:p>
          <a:p>
            <a:r>
              <a:rPr lang="pt-BR" dirty="0"/>
              <a:t>	MK0, MK1, MK2, MK3</a:t>
            </a:r>
          </a:p>
          <a:p>
            <a:r>
              <a:rPr lang="pt-BR" dirty="0"/>
              <a:t>Four </a:t>
            </a:r>
            <a:r>
              <a:rPr lang="pt-BR" dirty="0" err="1"/>
              <a:t>fixed</a:t>
            </a:r>
            <a:r>
              <a:rPr lang="pt-BR" dirty="0"/>
              <a:t> system </a:t>
            </a:r>
            <a:r>
              <a:rPr lang="pt-BR" dirty="0" err="1"/>
              <a:t>parameters</a:t>
            </a:r>
            <a:r>
              <a:rPr lang="pt-BR" dirty="0"/>
              <a:t>, </a:t>
            </a:r>
            <a:r>
              <a:rPr lang="pt-BR" dirty="0" err="1"/>
              <a:t>called</a:t>
            </a:r>
            <a:r>
              <a:rPr lang="pt-BR" dirty="0"/>
              <a:t> FK, are </a:t>
            </a:r>
            <a:r>
              <a:rPr lang="pt-BR" dirty="0" err="1"/>
              <a:t>first</a:t>
            </a:r>
            <a:r>
              <a:rPr lang="pt-BR" dirty="0"/>
              <a:t> </a:t>
            </a:r>
            <a:r>
              <a:rPr lang="pt-BR" dirty="0" err="1"/>
              <a:t>applied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K0 = MK0 XOR FK0</a:t>
            </a:r>
          </a:p>
          <a:p>
            <a:pPr lvl="2"/>
            <a:r>
              <a:rPr lang="pt-BR" dirty="0"/>
              <a:t>K1 = MK1 XOR FK1</a:t>
            </a:r>
          </a:p>
          <a:p>
            <a:pPr lvl="2"/>
            <a:r>
              <a:rPr lang="pt-BR" dirty="0"/>
              <a:t>K2 = MK2 XOR FK2</a:t>
            </a:r>
          </a:p>
          <a:p>
            <a:pPr lvl="2"/>
            <a:r>
              <a:rPr lang="pt-BR" dirty="0"/>
              <a:t>K3 = MK3 XOR FK3</a:t>
            </a:r>
          </a:p>
          <a:p>
            <a:r>
              <a:rPr lang="pt-BR" dirty="0"/>
              <a:t>The </a:t>
            </a:r>
            <a:r>
              <a:rPr lang="pt-BR" dirty="0" err="1"/>
              <a:t>following</a:t>
            </a:r>
            <a:r>
              <a:rPr lang="pt-BR" dirty="0"/>
              <a:t> words are </a:t>
            </a:r>
            <a:r>
              <a:rPr lang="pt-BR" dirty="0" err="1"/>
              <a:t>then</a:t>
            </a:r>
            <a:r>
              <a:rPr lang="pt-BR" dirty="0"/>
              <a:t> </a:t>
            </a:r>
            <a:r>
              <a:rPr lang="pt-BR" dirty="0" err="1"/>
              <a:t>generated</a:t>
            </a:r>
            <a:r>
              <a:rPr lang="pt-BR" dirty="0"/>
              <a:t> </a:t>
            </a:r>
            <a:r>
              <a:rPr lang="pt-BR" dirty="0" err="1"/>
              <a:t>recursively</a:t>
            </a:r>
            <a:r>
              <a:rPr lang="pt-BR" dirty="0"/>
              <a:t>.</a:t>
            </a:r>
          </a:p>
          <a:p>
            <a:r>
              <a:rPr lang="pt-BR" dirty="0"/>
              <a:t>For </a:t>
            </a:r>
            <a:r>
              <a:rPr lang="pt-BR" dirty="0" err="1"/>
              <a:t>each</a:t>
            </a:r>
            <a:r>
              <a:rPr lang="pt-BR" dirty="0"/>
              <a:t> round i:</a:t>
            </a:r>
          </a:p>
          <a:p>
            <a:pPr lvl="2"/>
            <a:r>
              <a:rPr lang="pt-BR" dirty="0"/>
              <a:t>Ki+4 = Ki XOR T'(Ki+1 XOR Ki+2 XOR Ki+3 XOR </a:t>
            </a:r>
            <a:r>
              <a:rPr lang="pt-BR" dirty="0" err="1"/>
              <a:t>CKi</a:t>
            </a:r>
            <a:r>
              <a:rPr lang="pt-BR" dirty="0"/>
              <a:t>)</a:t>
            </a:r>
          </a:p>
          <a:p>
            <a:pPr lvl="2"/>
            <a:r>
              <a:rPr lang="pt-BR" dirty="0" err="1"/>
              <a:t>and</a:t>
            </a:r>
            <a:r>
              <a:rPr lang="pt-BR" dirty="0"/>
              <a:t>:</a:t>
            </a:r>
          </a:p>
          <a:p>
            <a:pPr lvl="2"/>
            <a:r>
              <a:rPr lang="pt-BR" dirty="0" err="1"/>
              <a:t>rki</a:t>
            </a:r>
            <a:r>
              <a:rPr lang="pt-BR" dirty="0"/>
              <a:t> = Ki+4</a:t>
            </a:r>
          </a:p>
          <a:p>
            <a:r>
              <a:rPr lang="pt-BR" dirty="0" err="1"/>
              <a:t>where</a:t>
            </a:r>
            <a:r>
              <a:rPr lang="pt-BR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 err="1"/>
              <a:t>CKi</a:t>
            </a:r>
            <a:r>
              <a:rPr lang="pt-BR" dirty="0"/>
              <a:t> 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fixed</a:t>
            </a:r>
            <a:r>
              <a:rPr lang="pt-BR" dirty="0"/>
              <a:t> </a:t>
            </a:r>
            <a:r>
              <a:rPr lang="pt-BR" dirty="0" err="1"/>
              <a:t>constant</a:t>
            </a:r>
            <a:r>
              <a:rPr lang="pt-BR" dirty="0"/>
              <a:t> </a:t>
            </a:r>
            <a:r>
              <a:rPr lang="pt-BR" dirty="0" err="1"/>
              <a:t>associated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round i.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T'() 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transformation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</a:t>
            </a:r>
            <a:r>
              <a:rPr lang="pt-BR" dirty="0" err="1"/>
              <a:t>specifically</a:t>
            </a:r>
            <a:r>
              <a:rPr lang="pt-BR" dirty="0"/>
              <a:t> for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/>
              <a:t>expansion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9146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382FDE1-0881-E0BB-010E-CB407FE154DC}"/>
              </a:ext>
            </a:extLst>
          </p:cNvPr>
          <p:cNvSpPr txBox="1"/>
          <p:nvPr/>
        </p:nvSpPr>
        <p:spPr>
          <a:xfrm>
            <a:off x="0" y="1769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Aptos" panose="020B0004020202020204" pitchFamily="34" charset="0"/>
              </a:rPr>
              <a:t>Key </a:t>
            </a:r>
            <a:r>
              <a:rPr lang="pt-BR" sz="4000" dirty="0" err="1">
                <a:latin typeface="Aptos" panose="020B0004020202020204" pitchFamily="34" charset="0"/>
              </a:rPr>
              <a:t>Expansion</a:t>
            </a:r>
            <a:r>
              <a:rPr lang="pt-BR" sz="4000" dirty="0">
                <a:latin typeface="Aptos" panose="020B0004020202020204" pitchFamily="34" charset="0"/>
              </a:rPr>
              <a:t> </a:t>
            </a:r>
            <a:r>
              <a:rPr lang="pt-BR" sz="4000" dirty="0" err="1">
                <a:latin typeface="Aptos" panose="020B0004020202020204" pitchFamily="34" charset="0"/>
              </a:rPr>
              <a:t>Transformation</a:t>
            </a:r>
            <a:endParaRPr lang="pt-BR" sz="40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28B8E5-56BC-9F76-1C69-657689DC2965}"/>
              </a:ext>
            </a:extLst>
          </p:cNvPr>
          <p:cNvSpPr txBox="1"/>
          <p:nvPr/>
        </p:nvSpPr>
        <p:spPr>
          <a:xfrm>
            <a:off x="501445" y="884867"/>
            <a:ext cx="11139949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The </a:t>
            </a:r>
            <a:r>
              <a:rPr lang="pt-BR" sz="1600" dirty="0" err="1"/>
              <a:t>key</a:t>
            </a:r>
            <a:r>
              <a:rPr lang="pt-BR" sz="1600" dirty="0"/>
              <a:t> </a:t>
            </a:r>
            <a:r>
              <a:rPr lang="pt-BR" sz="1600" dirty="0" err="1"/>
              <a:t>expansion</a:t>
            </a:r>
            <a:r>
              <a:rPr lang="pt-BR" sz="1600" dirty="0"/>
              <a:t> </a:t>
            </a:r>
            <a:r>
              <a:rPr lang="pt-BR" sz="1600" dirty="0" err="1"/>
              <a:t>transformation</a:t>
            </a:r>
            <a:r>
              <a:rPr lang="pt-BR" sz="1600" dirty="0"/>
              <a:t> </a:t>
            </a:r>
            <a:r>
              <a:rPr lang="pt-BR" sz="1600" dirty="0" err="1"/>
              <a:t>is</a:t>
            </a:r>
            <a:r>
              <a:rPr lang="pt-BR" sz="1600" dirty="0"/>
              <a:t> similar </a:t>
            </a:r>
            <a:r>
              <a:rPr lang="pt-BR" sz="1600" dirty="0" err="1"/>
              <a:t>to</a:t>
            </a:r>
            <a:r>
              <a:rPr lang="pt-BR" sz="1600" dirty="0"/>
              <a:t> </a:t>
            </a:r>
            <a:r>
              <a:rPr lang="pt-BR" sz="1600" dirty="0" err="1"/>
              <a:t>the</a:t>
            </a:r>
            <a:r>
              <a:rPr lang="pt-BR" sz="1600" dirty="0"/>
              <a:t> </a:t>
            </a:r>
            <a:r>
              <a:rPr lang="pt-BR" sz="1600" dirty="0" err="1"/>
              <a:t>encryption</a:t>
            </a:r>
            <a:r>
              <a:rPr lang="pt-BR" sz="1600" dirty="0"/>
              <a:t> </a:t>
            </a:r>
            <a:r>
              <a:rPr lang="pt-BR" sz="1600" dirty="0" err="1"/>
              <a:t>transformation</a:t>
            </a:r>
            <a:r>
              <a:rPr lang="pt-BR" sz="1600" dirty="0"/>
              <a:t>, </a:t>
            </a:r>
            <a:r>
              <a:rPr lang="pt-BR" sz="1600" dirty="0" err="1"/>
              <a:t>but</a:t>
            </a:r>
            <a:r>
              <a:rPr lang="pt-BR" sz="1600" dirty="0"/>
              <a:t> uses a </a:t>
            </a:r>
            <a:r>
              <a:rPr lang="pt-BR" sz="1600" dirty="0" err="1"/>
              <a:t>different</a:t>
            </a:r>
            <a:r>
              <a:rPr lang="pt-BR" sz="1600" dirty="0"/>
              <a:t> linear </a:t>
            </a:r>
            <a:r>
              <a:rPr lang="pt-BR" sz="1600" dirty="0" err="1"/>
              <a:t>operation</a:t>
            </a:r>
            <a:r>
              <a:rPr lang="pt-BR" sz="1600" dirty="0"/>
              <a:t>.</a:t>
            </a:r>
          </a:p>
          <a:p>
            <a:r>
              <a:rPr lang="pt-BR" sz="1600" dirty="0"/>
              <a:t>It </a:t>
            </a:r>
            <a:r>
              <a:rPr lang="pt-BR" sz="1600" dirty="0" err="1"/>
              <a:t>is</a:t>
            </a:r>
            <a:r>
              <a:rPr lang="pt-BR" sz="1600" dirty="0"/>
              <a:t> </a:t>
            </a:r>
            <a:r>
              <a:rPr lang="pt-BR" sz="1600" dirty="0" err="1"/>
              <a:t>defined</a:t>
            </a:r>
            <a:r>
              <a:rPr lang="pt-BR" sz="1600" dirty="0"/>
              <a:t> as:</a:t>
            </a:r>
          </a:p>
          <a:p>
            <a:r>
              <a:rPr lang="pt-BR" sz="1600" dirty="0"/>
              <a:t>T'(B) = L'(tau(B))</a:t>
            </a:r>
          </a:p>
          <a:p>
            <a:r>
              <a:rPr lang="pt-BR" sz="1600" dirty="0" err="1"/>
              <a:t>with</a:t>
            </a:r>
            <a:r>
              <a:rPr lang="pt-BR" sz="1600" dirty="0"/>
              <a:t>:</a:t>
            </a:r>
          </a:p>
          <a:p>
            <a:r>
              <a:rPr lang="pt-BR" sz="1600" dirty="0"/>
              <a:t>L'(B) = B</a:t>
            </a:r>
          </a:p>
          <a:p>
            <a:r>
              <a:rPr lang="pt-BR" sz="1600" dirty="0"/>
              <a:t>        XOR (B &lt;&lt;&lt; 13)</a:t>
            </a:r>
          </a:p>
          <a:p>
            <a:r>
              <a:rPr lang="pt-BR" sz="1600" dirty="0"/>
              <a:t>        XOR (B &lt;&lt;&lt; 23)</a:t>
            </a:r>
          </a:p>
          <a:p>
            <a:r>
              <a:rPr lang="pt-BR" sz="1600" dirty="0" err="1"/>
              <a:t>Therefore</a:t>
            </a:r>
            <a:r>
              <a:rPr lang="pt-BR" sz="1600" dirty="0"/>
              <a:t>, it </a:t>
            </a:r>
            <a:r>
              <a:rPr lang="pt-BR" sz="1600" dirty="0" err="1"/>
              <a:t>is</a:t>
            </a:r>
            <a:r>
              <a:rPr lang="pt-BR" sz="1600" dirty="0"/>
              <a:t> </a:t>
            </a:r>
            <a:r>
              <a:rPr lang="pt-BR" sz="1600" dirty="0" err="1"/>
              <a:t>important</a:t>
            </a:r>
            <a:r>
              <a:rPr lang="pt-BR" sz="1600" dirty="0"/>
              <a:t> </a:t>
            </a:r>
            <a:r>
              <a:rPr lang="pt-BR" sz="1600" dirty="0" err="1"/>
              <a:t>to</a:t>
            </a:r>
            <a:r>
              <a:rPr lang="pt-BR" sz="1600" dirty="0"/>
              <a:t> </a:t>
            </a:r>
            <a:r>
              <a:rPr lang="pt-BR" sz="1600" dirty="0" err="1"/>
              <a:t>distinguish</a:t>
            </a:r>
            <a:r>
              <a:rPr lang="pt-BR" sz="1600" dirty="0"/>
              <a:t>:</a:t>
            </a:r>
          </a:p>
          <a:p>
            <a:r>
              <a:rPr lang="pt-BR" sz="1600" b="1" dirty="0" err="1"/>
              <a:t>Encryption</a:t>
            </a:r>
            <a:endParaRPr lang="pt-BR" sz="1600" b="1" dirty="0"/>
          </a:p>
          <a:p>
            <a:r>
              <a:rPr lang="pt-BR" sz="1600" dirty="0"/>
              <a:t>T(B) = L(tau(B))</a:t>
            </a:r>
          </a:p>
          <a:p>
            <a:endParaRPr lang="pt-BR" sz="1600" dirty="0"/>
          </a:p>
          <a:p>
            <a:r>
              <a:rPr lang="pt-BR" sz="1600" dirty="0"/>
              <a:t>L(B) = B</a:t>
            </a:r>
          </a:p>
          <a:p>
            <a:r>
              <a:rPr lang="pt-BR" sz="1600" dirty="0"/>
              <a:t>       XOR (B &lt;&lt;&lt; 2)</a:t>
            </a:r>
          </a:p>
          <a:p>
            <a:r>
              <a:rPr lang="pt-BR" sz="1600" dirty="0"/>
              <a:t>       XOR (B &lt;&lt;&lt; 10)</a:t>
            </a:r>
          </a:p>
          <a:p>
            <a:r>
              <a:rPr lang="pt-BR" sz="1600" dirty="0"/>
              <a:t>       XOR (B &lt;&lt;&lt; 18)</a:t>
            </a:r>
          </a:p>
          <a:p>
            <a:r>
              <a:rPr lang="pt-BR" sz="1600" dirty="0"/>
              <a:t>       XOR (B &lt;&lt;&lt; 24)</a:t>
            </a:r>
          </a:p>
          <a:p>
            <a:r>
              <a:rPr lang="pt-BR" sz="1600" b="1" dirty="0"/>
              <a:t>Key </a:t>
            </a:r>
            <a:r>
              <a:rPr lang="pt-BR" sz="1600" b="1" dirty="0" err="1"/>
              <a:t>Expansion</a:t>
            </a:r>
            <a:endParaRPr lang="pt-BR" sz="1600" b="1" dirty="0"/>
          </a:p>
          <a:p>
            <a:r>
              <a:rPr lang="pt-BR" sz="1600" dirty="0"/>
              <a:t>T'(B) = L'(tau(B))</a:t>
            </a:r>
          </a:p>
          <a:p>
            <a:endParaRPr lang="pt-BR" sz="1600" dirty="0"/>
          </a:p>
          <a:p>
            <a:r>
              <a:rPr lang="pt-BR" sz="1600" dirty="0"/>
              <a:t>L'(B) = B</a:t>
            </a:r>
          </a:p>
          <a:p>
            <a:r>
              <a:rPr lang="pt-BR" sz="1600" dirty="0"/>
              <a:t>        XOR (B &lt;&lt;&lt; 13)</a:t>
            </a:r>
          </a:p>
          <a:p>
            <a:r>
              <a:rPr lang="pt-BR" sz="1600" dirty="0"/>
              <a:t>        XOR (B &lt;&lt;&lt; 23)</a:t>
            </a:r>
          </a:p>
          <a:p>
            <a:r>
              <a:rPr lang="pt-BR" sz="1600" dirty="0"/>
              <a:t>Both </a:t>
            </a:r>
            <a:r>
              <a:rPr lang="pt-BR" sz="1600" dirty="0" err="1"/>
              <a:t>transformations</a:t>
            </a:r>
            <a:r>
              <a:rPr lang="pt-BR" sz="1600" dirty="0"/>
              <a:t> use </a:t>
            </a:r>
            <a:r>
              <a:rPr lang="pt-BR" sz="1600" dirty="0" err="1"/>
              <a:t>the</a:t>
            </a:r>
            <a:r>
              <a:rPr lang="pt-BR" sz="1600" dirty="0"/>
              <a:t> </a:t>
            </a:r>
            <a:r>
              <a:rPr lang="pt-BR" sz="1600" dirty="0" err="1"/>
              <a:t>same</a:t>
            </a:r>
            <a:r>
              <a:rPr lang="pt-BR" sz="1600" dirty="0"/>
              <a:t> </a:t>
            </a:r>
            <a:r>
              <a:rPr lang="pt-BR" sz="1600" dirty="0" err="1"/>
              <a:t>S-box</a:t>
            </a:r>
            <a:r>
              <a:rPr lang="pt-BR" sz="1600" dirty="0"/>
              <a:t> </a:t>
            </a:r>
            <a:r>
              <a:rPr lang="pt-BR" sz="1600" dirty="0" err="1"/>
              <a:t>but</a:t>
            </a:r>
            <a:r>
              <a:rPr lang="pt-BR" sz="1600" dirty="0"/>
              <a:t> </a:t>
            </a:r>
            <a:r>
              <a:rPr lang="pt-BR" sz="1600" dirty="0" err="1"/>
              <a:t>different</a:t>
            </a:r>
            <a:r>
              <a:rPr lang="pt-BR" sz="1600" dirty="0"/>
              <a:t> linear </a:t>
            </a:r>
            <a:r>
              <a:rPr lang="pt-BR" sz="1600" dirty="0" err="1"/>
              <a:t>transformations</a:t>
            </a:r>
            <a:r>
              <a:rPr lang="pt-BR" sz="16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4179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4FDD41-C015-333A-BC38-6AF3DCE4EC74}"/>
              </a:ext>
            </a:extLst>
          </p:cNvPr>
          <p:cNvSpPr txBox="1"/>
          <p:nvPr/>
        </p:nvSpPr>
        <p:spPr>
          <a:xfrm>
            <a:off x="0" y="23597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err="1">
                <a:latin typeface="Aptos" panose="020B0004020202020204" pitchFamily="34" charset="0"/>
              </a:rPr>
              <a:t>Decryption</a:t>
            </a:r>
            <a:endParaRPr lang="pt-BR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BDE6F5-2C2A-B42C-631B-F7086CDFBEE8}"/>
              </a:ext>
            </a:extLst>
          </p:cNvPr>
          <p:cNvSpPr txBox="1"/>
          <p:nvPr/>
        </p:nvSpPr>
        <p:spPr>
          <a:xfrm>
            <a:off x="441667" y="1317522"/>
            <a:ext cx="117503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One</a:t>
            </a:r>
            <a:r>
              <a:rPr lang="pt-BR" dirty="0"/>
              <a:t> </a:t>
            </a:r>
            <a:r>
              <a:rPr lang="pt-BR" dirty="0" err="1"/>
              <a:t>useful</a:t>
            </a:r>
            <a:r>
              <a:rPr lang="pt-BR" dirty="0"/>
              <a:t> </a:t>
            </a:r>
            <a:r>
              <a:rPr lang="pt-BR" dirty="0" err="1"/>
              <a:t>characteristic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SM4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decryption</a:t>
            </a:r>
            <a:r>
              <a:rPr lang="pt-BR" dirty="0"/>
              <a:t> uses </a:t>
            </a:r>
            <a:r>
              <a:rPr lang="pt-BR" dirty="0" err="1"/>
              <a:t>essentially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same</a:t>
            </a:r>
            <a:r>
              <a:rPr lang="pt-BR" dirty="0"/>
              <a:t> round </a:t>
            </a:r>
            <a:r>
              <a:rPr lang="pt-BR" dirty="0" err="1"/>
              <a:t>structure</a:t>
            </a:r>
            <a:r>
              <a:rPr lang="pt-BR" dirty="0"/>
              <a:t> as </a:t>
            </a:r>
            <a:r>
              <a:rPr lang="pt-BR" dirty="0" err="1"/>
              <a:t>encryption</a:t>
            </a:r>
            <a:r>
              <a:rPr lang="pt-BR" dirty="0"/>
              <a:t>.</a:t>
            </a:r>
          </a:p>
          <a:p>
            <a:r>
              <a:rPr lang="pt-BR" dirty="0"/>
              <a:t>The </a:t>
            </a:r>
            <a:r>
              <a:rPr lang="pt-BR" dirty="0" err="1"/>
              <a:t>main</a:t>
            </a:r>
            <a:r>
              <a:rPr lang="pt-BR" dirty="0"/>
              <a:t> </a:t>
            </a:r>
            <a:r>
              <a:rPr lang="pt-BR" dirty="0" err="1"/>
              <a:t>difference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round </a:t>
            </a:r>
            <a:r>
              <a:rPr lang="pt-BR" dirty="0" err="1"/>
              <a:t>keys</a:t>
            </a:r>
            <a:r>
              <a:rPr lang="pt-BR" dirty="0"/>
              <a:t>.</a:t>
            </a:r>
          </a:p>
          <a:p>
            <a:r>
              <a:rPr lang="pt-BR" dirty="0" err="1"/>
              <a:t>Encryption</a:t>
            </a:r>
            <a:r>
              <a:rPr lang="pt-BR" dirty="0"/>
              <a:t> uses:</a:t>
            </a:r>
          </a:p>
          <a:p>
            <a:r>
              <a:rPr lang="pt-BR" dirty="0"/>
              <a:t>	rk0, rk1, rk2, ..., rk30, rk31</a:t>
            </a:r>
          </a:p>
          <a:p>
            <a:r>
              <a:rPr lang="pt-BR" dirty="0" err="1"/>
              <a:t>Decryption</a:t>
            </a:r>
            <a:r>
              <a:rPr lang="pt-BR" dirty="0"/>
              <a:t> uses:</a:t>
            </a:r>
          </a:p>
          <a:p>
            <a:r>
              <a:rPr lang="pt-BR" dirty="0"/>
              <a:t>	rk31, rk30, rk29, ..., rk1, rk0</a:t>
            </a:r>
          </a:p>
          <a:p>
            <a:r>
              <a:rPr lang="pt-BR" dirty="0" err="1"/>
              <a:t>Therefore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same</a:t>
            </a:r>
            <a:r>
              <a:rPr lang="pt-BR" dirty="0"/>
              <a:t> core </a:t>
            </a:r>
            <a:r>
              <a:rPr lang="pt-BR" dirty="0" err="1"/>
              <a:t>implementation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often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reused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reversing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round-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/>
              <a:t>order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349869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363</TotalTime>
  <Words>914</Words>
  <Application>Microsoft Office PowerPoint</Application>
  <PresentationFormat>Widescreen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Arial</vt:lpstr>
      <vt:lpstr>Consolas</vt:lpstr>
      <vt:lpstr>Courier New</vt:lpstr>
      <vt:lpstr>Neue Haas Grotesk Text Pro</vt:lpstr>
      <vt:lpstr>Helena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Specht</dc:creator>
  <cp:lastModifiedBy>Guilherme Specht</cp:lastModifiedBy>
  <cp:revision>23</cp:revision>
  <dcterms:created xsi:type="dcterms:W3CDTF">2026-09-21T13:09:40Z</dcterms:created>
  <dcterms:modified xsi:type="dcterms:W3CDTF">2026-09-22T06:55:55Z</dcterms:modified>
</cp:coreProperties>
</file>